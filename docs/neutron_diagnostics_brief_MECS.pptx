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charts/chart1.xml" ContentType="application/vnd.openxmlformats-officedocument.drawingml.chart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charts/chart2.xml" ContentType="application/vnd.openxmlformats-officedocument.drawingml.chart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500" b="0" i="0" u="none" strike="noStrike">
                <a:solidFill>
                  <a:srgbClr val="990000"/>
                </a:solidFill>
                <a:latin typeface="Calibri"/>
              </a:defRPr>
            </a:pPr>
            <a:r>
              <a:rPr sz="1500" b="0" i="0" u="none" strike="noStrike">
                <a:solidFill>
                  <a:srgbClr val="990000"/>
                </a:solidFill>
                <a:latin typeface="Calibri"/>
              </a:rPr>
              <a:t>ρR_D  (g/cm²)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rhoR_D</c:v>
                </c:pt>
              </c:strCache>
            </c:strRef>
          </c:tx>
          <c:spPr>
            <a:solidFill>
              <a:srgbClr val="1C3A63"/>
            </a:solidFill>
            <a:effectLst/>
          </c:spPr>
          <c:invertIfNegative val="0"/>
          <c:dLbls>
            <c:numFmt formatCode="0.00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222222"/>
                    </a:solidFill>
                    <a:latin typeface="Calibri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1C3A63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C08A1E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00595F"/>
              </a:solidFill>
              <a:effectLst/>
            </c:spPr>
          </c:dPt>
          <c:cat>
            <c:multiLvlStrRef>
              <c:f>Sheet1!$A$2:$A$4</c:f>
              <c:multiLvlStrCache>
                <c:ptCount val="3"/>
                <c:lvl>
                  <c:pt idx="0">
                    <c:v>OpenMC</c:v>
                  </c:pt>
                  <c:pt idx="1">
                    <c:v>NeSST · M1</c:v>
                  </c:pt>
                  <c:pt idx="2">
                    <c:v>NeSST · M2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0.372</c:v>
                </c:pt>
                <c:pt idx="1">
                  <c:v>0.567</c:v>
                </c:pt>
                <c:pt idx="2">
                  <c:v>0.297</c:v>
                </c:pt>
              </c:numCache>
            </c:numRef>
          </c:val>
        </c:ser>
        <c:dLbls>
          <c:numFmt formatCode="0.000" sourceLinked="0"/>
          <c:txPr>
            <a:bodyPr/>
            <a:lstStyle/>
            <a:p>
              <a:pPr>
                <a:defRPr b="0" i="0" strike="noStrike" sz="1200" u="none">
                  <a:solidFill>
                    <a:srgbClr val="222222"/>
                  </a:solidFill>
                  <a:latin typeface="Calibri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222222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0.7"/>
          <c:min val="0"/>
        </c:scaling>
        <c:delete val="1"/>
        <c:axPos val="l"/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400" b="0" i="0" u="none" strike="noStrike">
                <a:solidFill>
                  <a:srgbClr val="990000"/>
                </a:solidFill>
                <a:latin typeface="Calibri"/>
              </a:defRPr>
            </a:pPr>
            <a:r>
              <a:rPr sz="1400" b="0" i="0" u="none" strike="noStrike">
                <a:solidFill>
                  <a:srgbClr val="990000"/>
                </a:solidFill>
                <a:latin typeface="Calibri"/>
              </a:rPr>
              <a:t>Y_total / Y(13–15)</a:t>
            </a:r>
          </a:p>
        </c:rich>
      </c:tx>
      <c:layout/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ratio</c:v>
                </c:pt>
              </c:strCache>
            </c:strRef>
          </c:tx>
          <c:spPr>
            <a:solidFill>
              <a:srgbClr val="C08A1E"/>
            </a:solidFill>
            <a:effectLst/>
          </c:spPr>
          <c:invertIfNegative val="0"/>
          <c:dLbls>
            <c:numFmt formatCode="0.00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222222"/>
                    </a:solidFill>
                    <a:latin typeface="Calibri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C08A1E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1C3A63"/>
              </a:solidFill>
              <a:effectLst/>
            </c:spPr>
          </c:dPt>
          <c:cat>
            <c:multiLvlStrRef>
              <c:f>Sheet1!$A$2:$A$3</c:f>
              <c:multiLvlStrCache>
                <c:ptCount val="2"/>
                <c:lvl>
                  <c:pt idx="0">
                    <c:v>paper  e^(4·DSR)</c:v>
                  </c:pt>
                  <c:pt idx="1">
                    <c:v>OpenMC transport</c:v>
                  </c:pt>
                </c:lvl>
              </c:multiLvlStrCache>
            </c:multiLvl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1.188</c:v>
                </c:pt>
                <c:pt idx="1">
                  <c:v>1.272</c:v>
                </c:pt>
              </c:numCache>
            </c:numRef>
          </c:val>
        </c:ser>
        <c:dLbls>
          <c:numFmt formatCode="0.000" sourceLinked="0"/>
          <c:txPr>
            <a:bodyPr/>
            <a:lstStyle/>
            <a:p>
              <a:pPr>
                <a:defRPr b="0" i="0" strike="noStrike" sz="1200" u="none">
                  <a:solidFill>
                    <a:srgbClr val="222222"/>
                  </a:solidFill>
                  <a:latin typeface="Calibri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50" b="0" i="0" u="none" strike="noStrike">
                <a:solidFill>
                  <a:srgbClr val="222222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.4"/>
          <c:min val="1"/>
        </c:scaling>
        <c:delete val="1"/>
        <c:axPos val="b"/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chart" Target="/ppt/charts/chart1.xml"/><Relationship Id="rId1" Type="http://schemas.openxmlformats.org/officeDocument/2006/relationships/image" Target="../media/image-8-1.png"/><Relationship Id="rId3" Type="http://schemas.openxmlformats.org/officeDocument/2006/relationships/image" Target="../media/image-8-2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chart" Target="/ppt/charts/chart2.xml"/><Relationship Id="rId1" Type="http://schemas.openxmlformats.org/officeDocument/2006/relationships/image" Target="../media/image-9-1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01168" y="201168"/>
            <a:ext cx="11786616" cy="6455664"/>
          </a:xfrm>
          <a:prstGeom prst="rect">
            <a:avLst/>
          </a:prstGeom>
          <a:ln w="34925">
            <a:solidFill>
              <a:srgbClr val="00595F"/>
            </a:solidFill>
            <a:prstDash val="solid"/>
          </a:ln>
        </p:spPr>
      </p:sp>
      <p:pic>
        <p:nvPicPr>
          <p:cNvPr id="3" name="Image 0" descr="/tmp/mecs/mecs_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84048" y="6035040"/>
            <a:ext cx="457200" cy="419065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05256" y="6035040"/>
            <a:ext cx="14630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MECS</a:t>
            </a:r>
            <a:endParaRPr lang="en-US" sz="1300" dirty="0"/>
          </a:p>
        </p:txBody>
      </p:sp>
      <p:sp>
        <p:nvSpPr>
          <p:cNvPr id="5" name="Text 2"/>
          <p:cNvSpPr/>
          <p:nvPr/>
        </p:nvSpPr>
        <p:spPr>
          <a:xfrm>
            <a:off x="621792" y="192024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spc="300" kern="0" dirty="0">
                <a:solidFill>
                  <a:srgbClr val="0059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NEUTRONICS BRIEF</a:t>
            </a:r>
            <a:endParaRPr lang="en-US" sz="1500" dirty="0"/>
          </a:p>
        </p:txBody>
      </p:sp>
      <p:sp>
        <p:nvSpPr>
          <p:cNvPr id="6" name="Text 3"/>
          <p:cNvSpPr/>
          <p:nvPr/>
        </p:nvSpPr>
        <p:spPr>
          <a:xfrm>
            <a:off x="594360" y="2359152"/>
            <a:ext cx="108813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99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Neutron Diagnostics for Target Design</a:t>
            </a:r>
            <a:endParaRPr lang="en-US" sz="4000" dirty="0"/>
          </a:p>
        </p:txBody>
      </p:sp>
      <p:sp>
        <p:nvSpPr>
          <p:cNvPr id="7" name="Text 4"/>
          <p:cNvSpPr/>
          <p:nvPr/>
        </p:nvSpPr>
        <p:spPr>
          <a:xfrm>
            <a:off x="621792" y="3977640"/>
            <a:ext cx="10607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helios_postprocess → NeSST &amp; OpenMC — multi-material scatter, DSR, and the N210808 validation</a:t>
            </a:r>
            <a:endParaRPr lang="en-US" sz="1800" dirty="0"/>
          </a:p>
        </p:txBody>
      </p:sp>
      <p:sp>
        <p:nvSpPr>
          <p:cNvPr id="8" name="Text 5"/>
          <p:cNvSpPr/>
          <p:nvPr/>
        </p:nvSpPr>
        <p:spPr>
          <a:xfrm>
            <a:off x="621792" y="534924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Prepared for Xcimer Energy    |    Prof. Tom Mehlhorn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01168" y="201168"/>
            <a:ext cx="11786616" cy="6455664"/>
          </a:xfrm>
          <a:prstGeom prst="rect">
            <a:avLst/>
          </a:prstGeom>
          <a:ln w="34925">
            <a:solidFill>
              <a:srgbClr val="00595F"/>
            </a:solidFill>
            <a:prstDash val="solid"/>
          </a:ln>
        </p:spPr>
      </p:sp>
      <p:pic>
        <p:nvPicPr>
          <p:cNvPr id="3" name="Image 0" descr="/tmp/mecs/mecs_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84048" y="6035040"/>
            <a:ext cx="457200" cy="419065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05256" y="6035040"/>
            <a:ext cx="14630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MECS</a:t>
            </a:r>
            <a:endParaRPr lang="en-US" sz="1300" dirty="0"/>
          </a:p>
        </p:txBody>
      </p:sp>
      <p:sp>
        <p:nvSpPr>
          <p:cNvPr id="5" name="Text 2"/>
          <p:cNvSpPr/>
          <p:nvPr/>
        </p:nvSpPr>
        <p:spPr>
          <a:xfrm>
            <a:off x="594360" y="45720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99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Neutron diagnostics, now in the pipeline</a:t>
            </a:r>
            <a:endParaRPr lang="en-US" sz="2600" dirty="0"/>
          </a:p>
        </p:txBody>
      </p:sp>
      <p:sp>
        <p:nvSpPr>
          <p:cNvPr id="6" name="Shape 3"/>
          <p:cNvSpPr/>
          <p:nvPr/>
        </p:nvSpPr>
        <p:spPr>
          <a:xfrm>
            <a:off x="640080" y="1691640"/>
            <a:ext cx="457200" cy="457200"/>
          </a:xfrm>
          <a:prstGeom prst="ellipse">
            <a:avLst/>
          </a:prstGeom>
          <a:solidFill>
            <a:srgbClr val="00595F"/>
          </a:solidFill>
          <a:ln/>
        </p:spPr>
      </p:sp>
      <p:sp>
        <p:nvSpPr>
          <p:cNvPr id="7" name="Text 4"/>
          <p:cNvSpPr/>
          <p:nvPr/>
        </p:nvSpPr>
        <p:spPr>
          <a:xfrm>
            <a:off x="640080" y="16916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800" dirty="0"/>
          </a:p>
        </p:txBody>
      </p:sp>
      <p:sp>
        <p:nvSpPr>
          <p:cNvPr id="8" name="Text 5"/>
          <p:cNvSpPr/>
          <p:nvPr/>
        </p:nvSpPr>
        <p:spPr>
          <a:xfrm>
            <a:off x="1298448" y="1655064"/>
            <a:ext cx="4572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99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Birth spectrum</a:t>
            </a:r>
            <a:endParaRPr lang="en-US" sz="1450" dirty="0"/>
          </a:p>
        </p:txBody>
      </p:sp>
      <p:sp>
        <p:nvSpPr>
          <p:cNvPr id="9" name="Text 6"/>
          <p:cNvSpPr/>
          <p:nvPr/>
        </p:nvSpPr>
        <p:spPr>
          <a:xfrm>
            <a:off x="1298448" y="1965960"/>
            <a:ext cx="4663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Burn-weighted N(E) built from the Helios ion-temperature and reaction-rate profiles.</a:t>
            </a:r>
            <a:endParaRPr lang="en-US" sz="1150" dirty="0"/>
          </a:p>
        </p:txBody>
      </p:sp>
      <p:sp>
        <p:nvSpPr>
          <p:cNvPr id="10" name="Shape 7"/>
          <p:cNvSpPr/>
          <p:nvPr/>
        </p:nvSpPr>
        <p:spPr>
          <a:xfrm>
            <a:off x="640080" y="2971800"/>
            <a:ext cx="457200" cy="457200"/>
          </a:xfrm>
          <a:prstGeom prst="ellipse">
            <a:avLst/>
          </a:prstGeom>
          <a:solidFill>
            <a:srgbClr val="00595F"/>
          </a:solidFill>
          <a:ln/>
        </p:spPr>
      </p:sp>
      <p:sp>
        <p:nvSpPr>
          <p:cNvPr id="11" name="Text 8"/>
          <p:cNvSpPr/>
          <p:nvPr/>
        </p:nvSpPr>
        <p:spPr>
          <a:xfrm>
            <a:off x="640080" y="29718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800" dirty="0"/>
          </a:p>
        </p:txBody>
      </p:sp>
      <p:sp>
        <p:nvSpPr>
          <p:cNvPr id="12" name="Text 9"/>
          <p:cNvSpPr/>
          <p:nvPr/>
        </p:nvSpPr>
        <p:spPr>
          <a:xfrm>
            <a:off x="1298448" y="2935224"/>
            <a:ext cx="4572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99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Down-scatter → ρR</a:t>
            </a:r>
            <a:endParaRPr lang="en-US" sz="1450" dirty="0"/>
          </a:p>
        </p:txBody>
      </p:sp>
      <p:sp>
        <p:nvSpPr>
          <p:cNvPr id="13" name="Text 10"/>
          <p:cNvSpPr/>
          <p:nvPr/>
        </p:nvSpPr>
        <p:spPr>
          <a:xfrm>
            <a:off x="1298448" y="3246120"/>
            <a:ext cx="4663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First-principles DSR from ENDF/B-VIII.0 elastic cross sections via NeSST — not an empirical fit.</a:t>
            </a:r>
            <a:endParaRPr lang="en-US" sz="1150" dirty="0"/>
          </a:p>
        </p:txBody>
      </p:sp>
      <p:sp>
        <p:nvSpPr>
          <p:cNvPr id="14" name="Shape 11"/>
          <p:cNvSpPr/>
          <p:nvPr/>
        </p:nvSpPr>
        <p:spPr>
          <a:xfrm>
            <a:off x="640080" y="4251960"/>
            <a:ext cx="457200" cy="457200"/>
          </a:xfrm>
          <a:prstGeom prst="ellipse">
            <a:avLst/>
          </a:prstGeom>
          <a:solidFill>
            <a:srgbClr val="00595F"/>
          </a:solidFill>
          <a:ln/>
        </p:spPr>
      </p:sp>
      <p:sp>
        <p:nvSpPr>
          <p:cNvPr id="15" name="Text 12"/>
          <p:cNvSpPr/>
          <p:nvPr/>
        </p:nvSpPr>
        <p:spPr>
          <a:xfrm>
            <a:off x="640080" y="42519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800" dirty="0"/>
          </a:p>
        </p:txBody>
      </p:sp>
      <p:sp>
        <p:nvSpPr>
          <p:cNvPr id="16" name="Text 13"/>
          <p:cNvSpPr/>
          <p:nvPr/>
        </p:nvSpPr>
        <p:spPr>
          <a:xfrm>
            <a:off x="1298448" y="4215384"/>
            <a:ext cx="4572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99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Synthetic nTOF</a:t>
            </a:r>
            <a:endParaRPr lang="en-US" sz="1450" dirty="0"/>
          </a:p>
        </p:txBody>
      </p:sp>
      <p:sp>
        <p:nvSpPr>
          <p:cNvPr id="17" name="Text 14"/>
          <p:cNvSpPr/>
          <p:nvPr/>
        </p:nvSpPr>
        <p:spPr>
          <a:xfrm>
            <a:off x="1298448" y="4526280"/>
            <a:ext cx="4663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Time-of-flight trace at the detector plus the apparent ion temperature.</a:t>
            </a:r>
            <a:endParaRPr lang="en-US" sz="1150" dirty="0"/>
          </a:p>
        </p:txBody>
      </p:sp>
      <p:sp>
        <p:nvSpPr>
          <p:cNvPr id="18" name="Shape 15"/>
          <p:cNvSpPr/>
          <p:nvPr/>
        </p:nvSpPr>
        <p:spPr>
          <a:xfrm>
            <a:off x="7635240" y="1691640"/>
            <a:ext cx="3931920" cy="3200400"/>
          </a:xfrm>
          <a:prstGeom prst="roundRect">
            <a:avLst>
              <a:gd name="adj" fmla="val 1714"/>
            </a:avLst>
          </a:prstGeom>
          <a:solidFill>
            <a:srgbClr val="1C3A63"/>
          </a:solidFill>
          <a:ln/>
        </p:spPr>
      </p:sp>
      <p:sp>
        <p:nvSpPr>
          <p:cNvPr id="19" name="Text 16"/>
          <p:cNvSpPr/>
          <p:nvPr/>
        </p:nvSpPr>
        <p:spPr>
          <a:xfrm>
            <a:off x="7909560" y="1901952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Runs automatically</a:t>
            </a:r>
            <a:endParaRPr lang="en-US" sz="1800" dirty="0"/>
          </a:p>
        </p:txBody>
      </p:sp>
      <p:sp>
        <p:nvSpPr>
          <p:cNvPr id="20" name="Text 17"/>
          <p:cNvSpPr/>
          <p:nvPr/>
        </p:nvSpPr>
        <p:spPr>
          <a:xfrm>
            <a:off x="7909560" y="2377440"/>
            <a:ext cx="342900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100"/>
              </a:spcAft>
              <a:buSzPct val="100000"/>
              <a:buChar char="•"/>
            </a:pPr>
            <a:r>
              <a:rPr lang="en-US" sz="1350" dirty="0">
                <a:solidFill>
                  <a:srgbClr val="CBD8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Fires as STEP 5b of run_analysis — no extra command.</a:t>
            </a:r>
            <a:endParaRPr lang="en-US" sz="1350" dirty="0"/>
          </a:p>
          <a:p>
            <a:pPr marL="342900" indent="-342900">
              <a:spcAft>
                <a:spcPts val="1100"/>
              </a:spcAft>
              <a:buSzPct val="100000"/>
              <a:buChar char="•"/>
            </a:pPr>
            <a:r>
              <a:rPr lang="en-US" sz="1350" dirty="0">
                <a:solidFill>
                  <a:srgbClr val="CBD8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Console block, _summary.txt, comparison-PDF rows, and a saved figure.</a:t>
            </a:r>
            <a:endParaRPr lang="en-US" sz="1350" dirty="0"/>
          </a:p>
          <a:p>
            <a:pPr marL="342900" indent="-342900">
              <a:buSzPct val="100000"/>
              <a:buChar char="•"/>
            </a:pPr>
            <a:r>
              <a:rPr lang="en-US" sz="1350" dirty="0">
                <a:solidFill>
                  <a:srgbClr val="CBD8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NeSST-optional — never blocks the rest of the pipeline.</a:t>
            </a:r>
            <a:endParaRPr lang="en-US" sz="13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01168" y="201168"/>
            <a:ext cx="11786616" cy="6455664"/>
          </a:xfrm>
          <a:prstGeom prst="rect">
            <a:avLst/>
          </a:prstGeom>
          <a:ln w="34925">
            <a:solidFill>
              <a:srgbClr val="00595F"/>
            </a:solidFill>
            <a:prstDash val="solid"/>
          </a:ln>
        </p:spPr>
      </p:sp>
      <p:pic>
        <p:nvPicPr>
          <p:cNvPr id="3" name="Image 0" descr="/tmp/mecs/mecs_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84048" y="6035040"/>
            <a:ext cx="457200" cy="419065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05256" y="6035040"/>
            <a:ext cx="14630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MECS</a:t>
            </a:r>
            <a:endParaRPr lang="en-US" sz="1300" dirty="0"/>
          </a:p>
        </p:txBody>
      </p:sp>
      <p:sp>
        <p:nvSpPr>
          <p:cNvPr id="5" name="Text 2"/>
          <p:cNvSpPr/>
          <p:nvPr/>
        </p:nvSpPr>
        <p:spPr>
          <a:xfrm>
            <a:off x="594360" y="45720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99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Multi-material scatter — D + T + carbon</a:t>
            </a:r>
            <a:endParaRPr lang="en-US" sz="2600" dirty="0"/>
          </a:p>
        </p:txBody>
      </p:sp>
      <p:sp>
        <p:nvSpPr>
          <p:cNvPr id="6" name="Text 3"/>
          <p:cNvSpPr/>
          <p:nvPr/>
        </p:nvSpPr>
        <p:spPr>
          <a:xfrm>
            <a:off x="594360" y="1024128"/>
            <a:ext cx="11064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N210808 target — HDC (diamond) ablator, no foam · composition read per layer from the RHW</a:t>
            </a:r>
            <a:endParaRPr lang="en-US" sz="1250" dirty="0"/>
          </a:p>
        </p:txBody>
      </p:sp>
      <p:sp>
        <p:nvSpPr>
          <p:cNvPr id="7" name="Text 4"/>
          <p:cNvSpPr/>
          <p:nvPr/>
        </p:nvSpPr>
        <p:spPr>
          <a:xfrm>
            <a:off x="640080" y="1508760"/>
            <a:ext cx="5394960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99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Fuel fractions read from the deck</a:t>
            </a:r>
            <a:endParaRPr lang="en-US" sz="1500" dirty="0"/>
          </a:p>
          <a:p>
            <a:pPr indent="0" marL="0">
              <a:spcAft>
                <a:spcPts val="1300"/>
              </a:spcAft>
              <a:buNone/>
            </a:pPr>
            <a:r>
              <a:rPr lang="en-US" sz="13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hand-set — N210808 fuel is equimolar DT (50:50 by atom, 40:60 by mass).</a:t>
            </a:r>
            <a:endParaRPr lang="en-US" sz="1500" dirty="0"/>
          </a:p>
          <a:p>
            <a:pPr indent="0" marL="0">
              <a:buNone/>
            </a:pPr>
            <a:r>
              <a:rPr lang="en-US" sz="1500" b="1" dirty="0">
                <a:solidFill>
                  <a:srgbClr val="99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HDC ablator carbon now in the scatter</a:t>
            </a:r>
            <a:endParaRPr lang="en-US" sz="1500" dirty="0"/>
          </a:p>
          <a:p>
            <a:pPr indent="0" marL="0">
              <a:spcAft>
                <a:spcPts val="1300"/>
              </a:spcAft>
              <a:buNone/>
            </a:pPr>
            <a:r>
              <a:rPr lang="en-US" sz="13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Via NeSST C12 (elastic + the 4.4 MeV inelastic) — previously missing.</a:t>
            </a:r>
            <a:endParaRPr lang="en-US" sz="1500" dirty="0"/>
          </a:p>
          <a:p>
            <a:pPr indent="0" marL="0">
              <a:buNone/>
            </a:pPr>
            <a:r>
              <a:rPr lang="en-US" sz="1500" b="1" dirty="0">
                <a:solidFill>
                  <a:srgbClr val="99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DSRs reported</a:t>
            </a:r>
            <a:endParaRPr lang="en-US" sz="1500" dirty="0"/>
          </a:p>
          <a:p>
            <a:pPr indent="0" marL="0">
              <a:buNone/>
            </a:pPr>
            <a:r>
              <a:rPr lang="en-US" sz="13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Fuel DSR (the ρR diagnostic) and total DSR (with the HDC carbon).</a:t>
            </a:r>
            <a:endParaRPr lang="en-US" sz="15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309360" y="2011680"/>
          <a:ext cx="5257800" cy="914400"/>
        </p:xfrm>
        <a:graphic>
          <a:graphicData uri="http://schemas.openxmlformats.org/drawingml/2006/table">
            <a:tbl>
              <a:tblPr/>
              <a:tblGrid>
                <a:gridCol w="1417320"/>
                <a:gridCol w="1691640"/>
                <a:gridCol w="713232"/>
                <a:gridCol w="713232"/>
                <a:gridCol w="722376"/>
              </a:tblGrid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Layer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A6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material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A6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w_D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A6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w_T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A6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w_C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A63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DT gas / ice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 + T fuel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0.40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0.60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B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HDC shell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carbon (diamond)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1.00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B"/>
                    </a:solidFill>
                  </a:tcPr>
                </a:tc>
              </a:tr>
            </a:tbl>
          </a:graphicData>
        </a:graphic>
      </p:graphicFrame>
      <p:sp>
        <p:nvSpPr>
          <p:cNvPr id="9" name="Text 5"/>
          <p:cNvSpPr/>
          <p:nvPr/>
        </p:nvSpPr>
        <p:spPr>
          <a:xfrm>
            <a:off x="6309360" y="3703320"/>
            <a:ext cx="5257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i="1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carbon the neutrons scatter off is the HDC shell — no foam in this target. (A wetted-foam design would instead show a mixed D+T+C foam layer.)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01168" y="201168"/>
            <a:ext cx="11786616" cy="6455664"/>
          </a:xfrm>
          <a:prstGeom prst="rect">
            <a:avLst/>
          </a:prstGeom>
          <a:ln w="34925">
            <a:solidFill>
              <a:srgbClr val="00595F"/>
            </a:solidFill>
            <a:prstDash val="solid"/>
          </a:ln>
        </p:spPr>
      </p:sp>
      <p:pic>
        <p:nvPicPr>
          <p:cNvPr id="3" name="Image 0" descr="/tmp/mecs/mecs_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84048" y="6035040"/>
            <a:ext cx="457200" cy="419065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05256" y="6035040"/>
            <a:ext cx="14630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MECS</a:t>
            </a:r>
            <a:endParaRPr lang="en-US" sz="1300" dirty="0"/>
          </a:p>
        </p:txBody>
      </p:sp>
      <p:sp>
        <p:nvSpPr>
          <p:cNvPr id="5" name="Text 2"/>
          <p:cNvSpPr/>
          <p:nvPr/>
        </p:nvSpPr>
        <p:spPr>
          <a:xfrm>
            <a:off x="594360" y="45720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99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the result is computed — model &amp; equations</a:t>
            </a:r>
            <a:endParaRPr lang="en-US" sz="2600" dirty="0"/>
          </a:p>
        </p:txBody>
      </p:sp>
      <p:sp>
        <p:nvSpPr>
          <p:cNvPr id="6" name="Text 3"/>
          <p:cNvSpPr/>
          <p:nvPr/>
        </p:nvSpPr>
        <p:spPr>
          <a:xfrm>
            <a:off x="594360" y="1024128"/>
            <a:ext cx="11064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i="1" dirty="0">
                <a:solidFill>
                  <a:srgbClr val="0059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birth spectrum  →  per-layer areal density  →  single scatter (NeSST / ENDF)  →  primary depletion  →  DSR &amp; nTOF</a:t>
            </a:r>
            <a:endParaRPr lang="en-US" sz="1250" dirty="0"/>
          </a:p>
        </p:txBody>
      </p:sp>
      <p:sp>
        <p:nvSpPr>
          <p:cNvPr id="7" name="Shape 4"/>
          <p:cNvSpPr/>
          <p:nvPr/>
        </p:nvSpPr>
        <p:spPr>
          <a:xfrm>
            <a:off x="594360" y="1600200"/>
            <a:ext cx="457200" cy="457200"/>
          </a:xfrm>
          <a:prstGeom prst="ellipse">
            <a:avLst/>
          </a:prstGeom>
          <a:solidFill>
            <a:srgbClr val="00595F"/>
          </a:solidFill>
          <a:ln/>
        </p:spPr>
      </p:sp>
      <p:sp>
        <p:nvSpPr>
          <p:cNvPr id="8" name="Text 5"/>
          <p:cNvSpPr/>
          <p:nvPr/>
        </p:nvSpPr>
        <p:spPr>
          <a:xfrm>
            <a:off x="594360" y="16002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800" dirty="0"/>
          </a:p>
        </p:txBody>
      </p:sp>
      <p:sp>
        <p:nvSpPr>
          <p:cNvPr id="9" name="Text 6"/>
          <p:cNvSpPr/>
          <p:nvPr/>
        </p:nvSpPr>
        <p:spPr>
          <a:xfrm>
            <a:off x="1252728" y="1563624"/>
            <a:ext cx="4572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99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Birth spectrum (Helios source)</a:t>
            </a:r>
            <a:endParaRPr lang="en-US" sz="1450" dirty="0"/>
          </a:p>
        </p:txBody>
      </p:sp>
      <p:sp>
        <p:nvSpPr>
          <p:cNvPr id="10" name="Text 7"/>
          <p:cNvSpPr/>
          <p:nvPr/>
        </p:nvSpPr>
        <p:spPr>
          <a:xfrm>
            <a:off x="1252728" y="1874520"/>
            <a:ext cx="4663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Gaussian @ 14.06 MeV, ΔE_FWHM = 177·√Ti keV + TT R-matrix continuum (Brune).</a:t>
            </a:r>
            <a:endParaRPr lang="en-US" sz="1150" dirty="0"/>
          </a:p>
        </p:txBody>
      </p:sp>
      <p:sp>
        <p:nvSpPr>
          <p:cNvPr id="11" name="Shape 8"/>
          <p:cNvSpPr/>
          <p:nvPr/>
        </p:nvSpPr>
        <p:spPr>
          <a:xfrm>
            <a:off x="594360" y="2880360"/>
            <a:ext cx="457200" cy="457200"/>
          </a:xfrm>
          <a:prstGeom prst="ellipse">
            <a:avLst/>
          </a:prstGeom>
          <a:solidFill>
            <a:srgbClr val="00595F"/>
          </a:solidFill>
          <a:ln/>
        </p:spPr>
      </p:sp>
      <p:sp>
        <p:nvSpPr>
          <p:cNvPr id="12" name="Text 9"/>
          <p:cNvSpPr/>
          <p:nvPr/>
        </p:nvSpPr>
        <p:spPr>
          <a:xfrm>
            <a:off x="594360" y="28803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800" dirty="0"/>
          </a:p>
        </p:txBody>
      </p:sp>
      <p:sp>
        <p:nvSpPr>
          <p:cNvPr id="13" name="Text 10"/>
          <p:cNvSpPr/>
          <p:nvPr/>
        </p:nvSpPr>
        <p:spPr>
          <a:xfrm>
            <a:off x="1252728" y="2843784"/>
            <a:ext cx="4572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99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Per-species areal density</a:t>
            </a:r>
            <a:endParaRPr lang="en-US" sz="1450" dirty="0"/>
          </a:p>
        </p:txBody>
      </p:sp>
      <p:sp>
        <p:nvSpPr>
          <p:cNvPr id="14" name="Text 11"/>
          <p:cNvSpPr/>
          <p:nvPr/>
        </p:nvSpPr>
        <p:spPr>
          <a:xfrm>
            <a:off x="1252728" y="3154680"/>
            <a:ext cx="4663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ρR_x = ∫ ρ(r)·w_x dr  (RHW composition × Helios, neutron-weighted; x = D, T, C).</a:t>
            </a:r>
            <a:endParaRPr lang="en-US" sz="1150" dirty="0"/>
          </a:p>
        </p:txBody>
      </p:sp>
      <p:sp>
        <p:nvSpPr>
          <p:cNvPr id="15" name="Shape 12"/>
          <p:cNvSpPr/>
          <p:nvPr/>
        </p:nvSpPr>
        <p:spPr>
          <a:xfrm>
            <a:off x="594360" y="4160520"/>
            <a:ext cx="457200" cy="457200"/>
          </a:xfrm>
          <a:prstGeom prst="ellipse">
            <a:avLst/>
          </a:prstGeom>
          <a:solidFill>
            <a:srgbClr val="00595F"/>
          </a:solidFill>
          <a:ln/>
        </p:spPr>
      </p:sp>
      <p:sp>
        <p:nvSpPr>
          <p:cNvPr id="16" name="Text 13"/>
          <p:cNvSpPr/>
          <p:nvPr/>
        </p:nvSpPr>
        <p:spPr>
          <a:xfrm>
            <a:off x="594360" y="41605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800" dirty="0"/>
          </a:p>
        </p:txBody>
      </p:sp>
      <p:sp>
        <p:nvSpPr>
          <p:cNvPr id="17" name="Text 14"/>
          <p:cNvSpPr/>
          <p:nvPr/>
        </p:nvSpPr>
        <p:spPr>
          <a:xfrm>
            <a:off x="1252728" y="4123944"/>
            <a:ext cx="4572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99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 scatter — NeSST, ENDF/B-VIII.0</a:t>
            </a:r>
            <a:endParaRPr lang="en-US" sz="1450" dirty="0"/>
          </a:p>
        </p:txBody>
      </p:sp>
      <p:sp>
        <p:nvSpPr>
          <p:cNvPr id="18" name="Text 15"/>
          <p:cNvSpPr/>
          <p:nvPr/>
        </p:nvSpPr>
        <p:spPr>
          <a:xfrm>
            <a:off x="1252728" y="4434840"/>
            <a:ext cx="4663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N_sc(E) = A_1S·K(E);  A_1S = ρR·σ̄/m̄.  D,T elastic + (n,2n);  C elastic + inelastic.</a:t>
            </a:r>
            <a:endParaRPr lang="en-US" sz="1150" dirty="0"/>
          </a:p>
        </p:txBody>
      </p:sp>
      <p:sp>
        <p:nvSpPr>
          <p:cNvPr id="19" name="Shape 16"/>
          <p:cNvSpPr/>
          <p:nvPr/>
        </p:nvSpPr>
        <p:spPr>
          <a:xfrm>
            <a:off x="6355080" y="1600200"/>
            <a:ext cx="457200" cy="457200"/>
          </a:xfrm>
          <a:prstGeom prst="ellipse">
            <a:avLst/>
          </a:prstGeom>
          <a:solidFill>
            <a:srgbClr val="00595F"/>
          </a:solidFill>
          <a:ln/>
        </p:spPr>
      </p:sp>
      <p:sp>
        <p:nvSpPr>
          <p:cNvPr id="20" name="Text 17"/>
          <p:cNvSpPr/>
          <p:nvPr/>
        </p:nvSpPr>
        <p:spPr>
          <a:xfrm>
            <a:off x="6355080" y="16002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800" dirty="0"/>
          </a:p>
        </p:txBody>
      </p:sp>
      <p:sp>
        <p:nvSpPr>
          <p:cNvPr id="21" name="Text 18"/>
          <p:cNvSpPr/>
          <p:nvPr/>
        </p:nvSpPr>
        <p:spPr>
          <a:xfrm>
            <a:off x="7013448" y="1563624"/>
            <a:ext cx="4572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99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Deplete the primary</a:t>
            </a:r>
            <a:endParaRPr lang="en-US" sz="1450" dirty="0"/>
          </a:p>
        </p:txBody>
      </p:sp>
      <p:sp>
        <p:nvSpPr>
          <p:cNvPr id="22" name="Text 19"/>
          <p:cNvSpPr/>
          <p:nvPr/>
        </p:nvSpPr>
        <p:spPr>
          <a:xfrm>
            <a:off x="7013448" y="1874520"/>
            <a:ext cx="4663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I(E) → I(E)·T(E), T = transmission (D+T &amp; C) — scattered neutrons LEAVE the peak (number-conserving).</a:t>
            </a:r>
            <a:endParaRPr lang="en-US" sz="1150" dirty="0"/>
          </a:p>
        </p:txBody>
      </p:sp>
      <p:sp>
        <p:nvSpPr>
          <p:cNvPr id="23" name="Shape 20"/>
          <p:cNvSpPr/>
          <p:nvPr/>
        </p:nvSpPr>
        <p:spPr>
          <a:xfrm>
            <a:off x="6355080" y="2880360"/>
            <a:ext cx="457200" cy="457200"/>
          </a:xfrm>
          <a:prstGeom prst="ellipse">
            <a:avLst/>
          </a:prstGeom>
          <a:solidFill>
            <a:srgbClr val="00595F"/>
          </a:solidFill>
          <a:ln/>
        </p:spPr>
      </p:sp>
      <p:sp>
        <p:nvSpPr>
          <p:cNvPr id="24" name="Text 21"/>
          <p:cNvSpPr/>
          <p:nvPr/>
        </p:nvSpPr>
        <p:spPr>
          <a:xfrm>
            <a:off x="6355080" y="28803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800" dirty="0"/>
          </a:p>
        </p:txBody>
      </p:sp>
      <p:sp>
        <p:nvSpPr>
          <p:cNvPr id="25" name="Text 22"/>
          <p:cNvSpPr/>
          <p:nvPr/>
        </p:nvSpPr>
        <p:spPr>
          <a:xfrm>
            <a:off x="7013448" y="2843784"/>
            <a:ext cx="4572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99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Down-scatter ratio → ρR</a:t>
            </a:r>
            <a:endParaRPr lang="en-US" sz="1450" dirty="0"/>
          </a:p>
        </p:txBody>
      </p:sp>
      <p:sp>
        <p:nvSpPr>
          <p:cNvPr id="26" name="Text 23"/>
          <p:cNvSpPr/>
          <p:nvPr/>
        </p:nvSpPr>
        <p:spPr>
          <a:xfrm>
            <a:off x="7013448" y="3154680"/>
            <a:ext cx="4663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DSR = ∫N(10–12) / ∫N(13–15);  ρR = coeff · DSR  (coeff is first-principles).</a:t>
            </a:r>
            <a:endParaRPr lang="en-US" sz="1150" dirty="0"/>
          </a:p>
        </p:txBody>
      </p:sp>
      <p:sp>
        <p:nvSpPr>
          <p:cNvPr id="27" name="Shape 24"/>
          <p:cNvSpPr/>
          <p:nvPr/>
        </p:nvSpPr>
        <p:spPr>
          <a:xfrm>
            <a:off x="6355080" y="4160520"/>
            <a:ext cx="457200" cy="457200"/>
          </a:xfrm>
          <a:prstGeom prst="ellipse">
            <a:avLst/>
          </a:prstGeom>
          <a:solidFill>
            <a:srgbClr val="00595F"/>
          </a:solidFill>
          <a:ln/>
        </p:spPr>
      </p:sp>
      <p:sp>
        <p:nvSpPr>
          <p:cNvPr id="28" name="Text 25"/>
          <p:cNvSpPr/>
          <p:nvPr/>
        </p:nvSpPr>
        <p:spPr>
          <a:xfrm>
            <a:off x="6355080" y="41605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800" dirty="0"/>
          </a:p>
        </p:txBody>
      </p:sp>
      <p:sp>
        <p:nvSpPr>
          <p:cNvPr id="29" name="Text 26"/>
          <p:cNvSpPr/>
          <p:nvPr/>
        </p:nvSpPr>
        <p:spPr>
          <a:xfrm>
            <a:off x="7013448" y="4123944"/>
            <a:ext cx="4572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99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Synthetic nTOF</a:t>
            </a:r>
            <a:endParaRPr lang="en-US" sz="1450" dirty="0"/>
          </a:p>
        </p:txBody>
      </p:sp>
      <p:sp>
        <p:nvSpPr>
          <p:cNvPr id="30" name="Text 27"/>
          <p:cNvSpPr/>
          <p:nvPr/>
        </p:nvSpPr>
        <p:spPr>
          <a:xfrm>
            <a:off x="7013448" y="4434840"/>
            <a:ext cx="4663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t(E) = t0 + d/v(E), v = c·β (relativistic);  dN/dt = dN/dE · |dE/dt|.</a:t>
            </a:r>
            <a:endParaRPr lang="en-US" sz="1150" dirty="0"/>
          </a:p>
        </p:txBody>
      </p:sp>
      <p:sp>
        <p:nvSpPr>
          <p:cNvPr id="31" name="Shape 28"/>
          <p:cNvSpPr/>
          <p:nvPr/>
        </p:nvSpPr>
        <p:spPr>
          <a:xfrm>
            <a:off x="594360" y="5440680"/>
            <a:ext cx="10963656" cy="566928"/>
          </a:xfrm>
          <a:prstGeom prst="roundRect">
            <a:avLst>
              <a:gd name="adj" fmla="val 9677"/>
            </a:avLst>
          </a:prstGeom>
          <a:solidFill>
            <a:srgbClr val="1C3A63"/>
          </a:solidFill>
          <a:ln/>
        </p:spPr>
      </p:sp>
      <p:sp>
        <p:nvSpPr>
          <p:cNvPr id="32" name="Text 29"/>
          <p:cNvSpPr/>
          <p:nvPr/>
        </p:nvSpPr>
        <p:spPr>
          <a:xfrm>
            <a:off x="822960" y="5440680"/>
            <a:ext cx="10607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C08A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Implementation:  </a:t>
            </a:r>
            <a:pPr indent="0" marL="0">
              <a:buNone/>
            </a:pPr>
            <a:r>
              <a:rPr lang="en-US" sz="1150" dirty="0">
                <a:solidFill>
                  <a:srgbClr val="CBD8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logic is in our helios_postprocess routines. NeSST is used unmodified (public API + its l_n2n switch). Data: ENDF/B-VIII.0; TT: Appelbe/Brune R-matrix.</a:t>
            </a:r>
            <a:endParaRPr lang="en-US" sz="11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01168" y="201168"/>
            <a:ext cx="11786616" cy="6455664"/>
          </a:xfrm>
          <a:prstGeom prst="rect">
            <a:avLst/>
          </a:prstGeom>
          <a:ln w="34925">
            <a:solidFill>
              <a:srgbClr val="00595F"/>
            </a:solidFill>
            <a:prstDash val="solid"/>
          </a:ln>
        </p:spPr>
      </p:sp>
      <p:pic>
        <p:nvPicPr>
          <p:cNvPr id="3" name="Image 0" descr="/tmp/mecs/mecs_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84048" y="6035040"/>
            <a:ext cx="457200" cy="419065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05256" y="6035040"/>
            <a:ext cx="14630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MECS</a:t>
            </a:r>
            <a:endParaRPr lang="en-US" sz="1300" dirty="0"/>
          </a:p>
        </p:txBody>
      </p:sp>
      <p:sp>
        <p:nvSpPr>
          <p:cNvPr id="5" name="Text 2"/>
          <p:cNvSpPr/>
          <p:nvPr/>
        </p:nvSpPr>
        <p:spPr>
          <a:xfrm>
            <a:off x="594360" y="45720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99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ways to define ρR — Method 1 vs Method 2</a:t>
            </a:r>
            <a:endParaRPr lang="en-US" sz="2600" dirty="0"/>
          </a:p>
        </p:txBody>
      </p:sp>
      <p:sp>
        <p:nvSpPr>
          <p:cNvPr id="6" name="Text 3"/>
          <p:cNvSpPr/>
          <p:nvPr/>
        </p:nvSpPr>
        <p:spPr>
          <a:xfrm>
            <a:off x="594360" y="1078992"/>
            <a:ext cx="11064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 Kyle Keipper, “Areal Density of Deuterium – Two Methods.” Both burn- and time-averaged; the difference is spatial.</a:t>
            </a:r>
            <a:endParaRPr lang="en-US" sz="1250" dirty="0"/>
          </a:p>
        </p:txBody>
      </p:sp>
      <p:sp>
        <p:nvSpPr>
          <p:cNvPr id="7" name="Text 4"/>
          <p:cNvSpPr/>
          <p:nvPr/>
        </p:nvSpPr>
        <p:spPr>
          <a:xfrm>
            <a:off x="640080" y="1536192"/>
            <a:ext cx="5120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spc="150" kern="0" dirty="0">
                <a:solidFill>
                  <a:srgbClr val="0059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 1  ·  CENTER-TO-EDGE</a:t>
            </a:r>
            <a:endParaRPr lang="en-US" sz="1350" dirty="0"/>
          </a:p>
        </p:txBody>
      </p:sp>
      <p:sp>
        <p:nvSpPr>
          <p:cNvPr id="8" name="Text 5"/>
          <p:cNvSpPr/>
          <p:nvPr/>
        </p:nvSpPr>
        <p:spPr>
          <a:xfrm>
            <a:off x="640080" y="1847088"/>
            <a:ext cx="5120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Neutrons assumed produced at r = 0  ·  isotropic</a:t>
            </a:r>
            <a:endParaRPr lang="en-US" sz="1250" dirty="0"/>
          </a:p>
        </p:txBody>
      </p:sp>
      <p:pic>
        <p:nvPicPr>
          <p:cNvPr id="9" name="Image 1" descr="/tmp/mecs/eq_m1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" y="2240280"/>
            <a:ext cx="3383280" cy="2018663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640080" y="4343400"/>
            <a:ext cx="5074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99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full radial column ∫₀ᴿ ρ_D dr</a:t>
            </a:r>
            <a:pPr indent="0" marL="0">
              <a:buNone/>
            </a:pPr>
            <a:r>
              <a:rPr lang="en-US" sz="13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the classic areal-density metric, and the largest ρR a neutron could see.</a:t>
            </a:r>
            <a:endParaRPr lang="en-US" sz="1300" dirty="0"/>
          </a:p>
        </p:txBody>
      </p:sp>
      <p:sp>
        <p:nvSpPr>
          <p:cNvPr id="11" name="Text 7"/>
          <p:cNvSpPr/>
          <p:nvPr/>
        </p:nvSpPr>
        <p:spPr>
          <a:xfrm>
            <a:off x="6309360" y="1536192"/>
            <a:ext cx="5303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spc="120" kern="0" dirty="0">
                <a:solidFill>
                  <a:srgbClr val="0059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 2  ·  EMISSION-WEIGHTED, ANGLE-AVERAGED</a:t>
            </a:r>
            <a:endParaRPr lang="en-US" sz="1350" dirty="0"/>
          </a:p>
        </p:txBody>
      </p:sp>
      <p:sp>
        <p:nvSpPr>
          <p:cNvPr id="12" name="Text 8"/>
          <p:cNvSpPr/>
          <p:nvPr/>
        </p:nvSpPr>
        <p:spPr>
          <a:xfrm>
            <a:off x="6309360" y="1847088"/>
            <a:ext cx="5303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Radial distribution of production  ·  isotropic</a:t>
            </a:r>
            <a:endParaRPr lang="en-US" sz="1250" dirty="0"/>
          </a:p>
        </p:txBody>
      </p:sp>
      <p:pic>
        <p:nvPicPr>
          <p:cNvPr id="13" name="Image 2" descr="/tmp/mecs/eq_m2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46520" y="2377440"/>
            <a:ext cx="4343400" cy="1960903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6309360" y="4297680"/>
            <a:ext cx="53035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99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a neutron actually traverses</a:t>
            </a:r>
            <a:pPr indent="0" marL="0">
              <a:buNone/>
            </a:pPr>
            <a:r>
              <a:rPr lang="en-US" sz="13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the density it crosses depends on its birth radius r_s, where it is along the track, and its angle μ to the outward radial.</a:t>
            </a:r>
            <a:endParaRPr lang="en-US" sz="1300" dirty="0"/>
          </a:p>
        </p:txBody>
      </p:sp>
      <p:sp>
        <p:nvSpPr>
          <p:cNvPr id="15" name="Shape 10"/>
          <p:cNvSpPr/>
          <p:nvPr/>
        </p:nvSpPr>
        <p:spPr>
          <a:xfrm>
            <a:off x="621792" y="5285232"/>
            <a:ext cx="10945368" cy="658368"/>
          </a:xfrm>
          <a:prstGeom prst="roundRect">
            <a:avLst>
              <a:gd name="adj" fmla="val 8333"/>
            </a:avLst>
          </a:prstGeom>
          <a:solidFill>
            <a:srgbClr val="1C3A63"/>
          </a:solidFill>
          <a:ln/>
        </p:spPr>
      </p:sp>
      <p:sp>
        <p:nvSpPr>
          <p:cNvPr id="16" name="Text 11"/>
          <p:cNvSpPr/>
          <p:nvPr/>
        </p:nvSpPr>
        <p:spPr>
          <a:xfrm>
            <a:off x="822960" y="5285232"/>
            <a:ext cx="106070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C08A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it matters:  </a:t>
            </a:r>
            <a:pPr indent="0" marL="0">
              <a:buNone/>
            </a:pPr>
            <a:r>
              <a:rPr lang="en-US" sz="1250" dirty="0">
                <a:solidFill>
                  <a:srgbClr val="CBD8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DSR responds to the Method-2 (traversed) ρR. Method 1 (center-to-edge) over-predicts it — the pipeline now uses Method 2.</a:t>
            </a:r>
            <a:endParaRPr lang="en-US" sz="12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01168" y="201168"/>
            <a:ext cx="11786616" cy="6455664"/>
          </a:xfrm>
          <a:prstGeom prst="rect">
            <a:avLst/>
          </a:prstGeom>
          <a:ln w="34925">
            <a:solidFill>
              <a:srgbClr val="00595F"/>
            </a:solidFill>
            <a:prstDash val="solid"/>
          </a:ln>
        </p:spPr>
      </p:sp>
      <p:pic>
        <p:nvPicPr>
          <p:cNvPr id="3" name="Image 0" descr="/tmp/mecs/mecs_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84048" y="6035040"/>
            <a:ext cx="457200" cy="419065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05256" y="6035040"/>
            <a:ext cx="14630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MECS</a:t>
            </a:r>
            <a:endParaRPr lang="en-US" sz="1300" dirty="0"/>
          </a:p>
        </p:txBody>
      </p:sp>
      <p:sp>
        <p:nvSpPr>
          <p:cNvPr id="5" name="Text 2"/>
          <p:cNvSpPr/>
          <p:nvPr/>
        </p:nvSpPr>
        <p:spPr>
          <a:xfrm>
            <a:off x="594360" y="45720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99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N210808 validation — pipeline output (Method-2 ρR)</a:t>
            </a:r>
            <a:endParaRPr lang="en-US" sz="2600" dirty="0"/>
          </a:p>
        </p:txBody>
      </p:sp>
      <p:pic>
        <p:nvPicPr>
          <p:cNvPr id="6" name="Image 1" descr="/tmp/mecs/pipeline_neutron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63040" y="1234440"/>
            <a:ext cx="9262872" cy="3409228"/>
          </a:xfrm>
          <a:prstGeom prst="rect">
            <a:avLst/>
          </a:prstGeom>
        </p:spPr>
      </p:pic>
      <p:sp>
        <p:nvSpPr>
          <p:cNvPr id="7" name="Shape 3"/>
          <p:cNvSpPr/>
          <p:nvPr/>
        </p:nvSpPr>
        <p:spPr>
          <a:xfrm>
            <a:off x="548640" y="4681728"/>
            <a:ext cx="3520440" cy="822960"/>
          </a:xfrm>
          <a:prstGeom prst="roundRect">
            <a:avLst>
              <a:gd name="adj" fmla="val 6667"/>
            </a:avLst>
          </a:prstGeom>
          <a:solidFill>
            <a:srgbClr val="1C3A63"/>
          </a:solidFill>
          <a:ln/>
        </p:spPr>
      </p:sp>
      <p:sp>
        <p:nvSpPr>
          <p:cNvPr id="8" name="Text 4"/>
          <p:cNvSpPr/>
          <p:nvPr/>
        </p:nvSpPr>
        <p:spPr>
          <a:xfrm>
            <a:off x="548640" y="4764024"/>
            <a:ext cx="3520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4.5%  →  5.0%</a:t>
            </a:r>
            <a:endParaRPr lang="en-US" sz="2200" dirty="0"/>
          </a:p>
        </p:txBody>
      </p:sp>
      <p:sp>
        <p:nvSpPr>
          <p:cNvPr id="9" name="Text 5"/>
          <p:cNvSpPr/>
          <p:nvPr/>
        </p:nvSpPr>
        <p:spPr>
          <a:xfrm>
            <a:off x="594360" y="5212080"/>
            <a:ext cx="3429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BD8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DSR  fuel → total  (traversed)</a:t>
            </a:r>
            <a:endParaRPr lang="en-US" sz="1100" dirty="0"/>
          </a:p>
        </p:txBody>
      </p:sp>
      <p:sp>
        <p:nvSpPr>
          <p:cNvPr id="10" name="Shape 6"/>
          <p:cNvSpPr/>
          <p:nvPr/>
        </p:nvSpPr>
        <p:spPr>
          <a:xfrm>
            <a:off x="4315968" y="4681728"/>
            <a:ext cx="3520440" cy="822960"/>
          </a:xfrm>
          <a:prstGeom prst="roundRect">
            <a:avLst>
              <a:gd name="adj" fmla="val 6667"/>
            </a:avLst>
          </a:prstGeom>
          <a:solidFill>
            <a:srgbClr val="1C3A63"/>
          </a:solidFill>
          <a:ln/>
        </p:spPr>
      </p:sp>
      <p:sp>
        <p:nvSpPr>
          <p:cNvPr id="11" name="Text 7"/>
          <p:cNvSpPr/>
          <p:nvPr/>
        </p:nvSpPr>
        <p:spPr>
          <a:xfrm>
            <a:off x="4315968" y="4791456"/>
            <a:ext cx="3520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 0.30 · T 0.45 · C 0.66</a:t>
            </a:r>
            <a:endParaRPr lang="en-US" sz="1800" dirty="0"/>
          </a:p>
        </p:txBody>
      </p:sp>
      <p:sp>
        <p:nvSpPr>
          <p:cNvPr id="12" name="Text 8"/>
          <p:cNvSpPr/>
          <p:nvPr/>
        </p:nvSpPr>
        <p:spPr>
          <a:xfrm>
            <a:off x="4361688" y="5212080"/>
            <a:ext cx="3429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BD8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traversed (Method 2) ρR  (g/cm²)</a:t>
            </a:r>
            <a:endParaRPr lang="en-US" sz="1100" dirty="0"/>
          </a:p>
        </p:txBody>
      </p:sp>
      <p:sp>
        <p:nvSpPr>
          <p:cNvPr id="13" name="Shape 9"/>
          <p:cNvSpPr/>
          <p:nvPr/>
        </p:nvSpPr>
        <p:spPr>
          <a:xfrm>
            <a:off x="8083296" y="4681728"/>
            <a:ext cx="3520440" cy="822960"/>
          </a:xfrm>
          <a:prstGeom prst="roundRect">
            <a:avLst>
              <a:gd name="adj" fmla="val 6667"/>
            </a:avLst>
          </a:prstGeom>
          <a:solidFill>
            <a:srgbClr val="1C3A63"/>
          </a:solidFill>
          <a:ln/>
        </p:spPr>
      </p:sp>
      <p:sp>
        <p:nvSpPr>
          <p:cNvPr id="14" name="Text 10"/>
          <p:cNvSpPr/>
          <p:nvPr/>
        </p:nvSpPr>
        <p:spPr>
          <a:xfrm>
            <a:off x="8083296" y="4764024"/>
            <a:ext cx="3520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C08A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1.03 × Y</a:t>
            </a:r>
            <a:endParaRPr lang="en-US" sz="2200" dirty="0"/>
          </a:p>
        </p:txBody>
      </p:sp>
      <p:sp>
        <p:nvSpPr>
          <p:cNvPr id="15" name="Text 11"/>
          <p:cNvSpPr/>
          <p:nvPr/>
        </p:nvSpPr>
        <p:spPr>
          <a:xfrm>
            <a:off x="8129016" y="5212080"/>
            <a:ext cx="3429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BD8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escaping  (primary depleted + n,2n)</a:t>
            </a:r>
            <a:endParaRPr lang="en-US" sz="1100" dirty="0"/>
          </a:p>
        </p:txBody>
      </p:sp>
      <p:sp>
        <p:nvSpPr>
          <p:cNvPr id="16" name="Text 12"/>
          <p:cNvSpPr/>
          <p:nvPr/>
        </p:nvSpPr>
        <p:spPr>
          <a:xfrm>
            <a:off x="548640" y="557784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Clean-1D over-igniting burn (Y = 15.6 vs 1.37 MJ), so ρR/DSR run high — but the traversed 4.5% is far closer to the published 2.87% than the center-to-edge 10%.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01168" y="201168"/>
            <a:ext cx="11786616" cy="6455664"/>
          </a:xfrm>
          <a:prstGeom prst="rect">
            <a:avLst/>
          </a:prstGeom>
          <a:ln w="34925">
            <a:solidFill>
              <a:srgbClr val="00595F"/>
            </a:solidFill>
            <a:prstDash val="solid"/>
          </a:ln>
        </p:spPr>
      </p:sp>
      <p:pic>
        <p:nvPicPr>
          <p:cNvPr id="3" name="Image 0" descr="/tmp/mecs/mecs_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84048" y="6035040"/>
            <a:ext cx="457200" cy="419065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05256" y="6035040"/>
            <a:ext cx="14630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MECS</a:t>
            </a:r>
            <a:endParaRPr lang="en-US" sz="1300" dirty="0"/>
          </a:p>
        </p:txBody>
      </p:sp>
      <p:sp>
        <p:nvSpPr>
          <p:cNvPr id="5" name="Text 2"/>
          <p:cNvSpPr/>
          <p:nvPr/>
        </p:nvSpPr>
        <p:spPr>
          <a:xfrm>
            <a:off x="594360" y="45720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99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First-principles ρR ↔ DSR — no fitting</a:t>
            </a:r>
            <a:endParaRPr lang="en-US" sz="2600" dirty="0"/>
          </a:p>
        </p:txBody>
      </p:sp>
      <p:pic>
        <p:nvPicPr>
          <p:cNvPr id="6" name="Image 1" descr="/tmp/mecs/coeff_story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417320"/>
            <a:ext cx="6583680" cy="3749248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7360920" y="1463040"/>
            <a:ext cx="4251960" cy="457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99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usual conversion is empirical</a:t>
            </a:r>
            <a:endParaRPr lang="en-US" sz="1500" dirty="0"/>
          </a:p>
          <a:p>
            <a:pPr indent="0" marL="0">
              <a:spcAft>
                <a:spcPts val="1300"/>
              </a:spcAft>
              <a:buNone/>
            </a:pPr>
            <a:r>
              <a:rPr lang="en-US" sz="13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ρR = 20.4 × DSR (NIF, Murphy 2014) — a calibrated constant.</a:t>
            </a:r>
            <a:endParaRPr lang="en-US" sz="1500" dirty="0"/>
          </a:p>
          <a:p>
            <a:pPr indent="0" marL="0">
              <a:buNone/>
            </a:pPr>
            <a:r>
              <a:rPr lang="en-US" sz="1500" b="1" dirty="0">
                <a:solidFill>
                  <a:srgbClr val="99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derive it from cross sections</a:t>
            </a:r>
            <a:endParaRPr lang="en-US" sz="1500" dirty="0"/>
          </a:p>
          <a:p>
            <a:pPr indent="0" marL="0">
              <a:spcAft>
                <a:spcPts val="1300"/>
              </a:spcAft>
              <a:buNone/>
            </a:pPr>
            <a:r>
              <a:rPr lang="en-US" sz="13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A_1S = ρR·σ̄/m̄ from ENDF/B-VIII.0 — no free parameters.</a:t>
            </a:r>
            <a:endParaRPr lang="en-US" sz="1500" dirty="0"/>
          </a:p>
          <a:p>
            <a:pPr indent="0" marL="0">
              <a:buNone/>
            </a:pPr>
            <a:r>
              <a:rPr lang="en-US" sz="1500" b="1" dirty="0">
                <a:solidFill>
                  <a:srgbClr val="99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Depletion lands it on 20.4</a:t>
            </a:r>
            <a:endParaRPr lang="en-US" sz="1500" dirty="0"/>
          </a:p>
          <a:p>
            <a:pPr indent="0" marL="0">
              <a:spcAft>
                <a:spcPts val="1300"/>
              </a:spcAft>
              <a:buNone/>
            </a:pPr>
            <a:r>
              <a:rPr lang="en-US" sz="13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Using the measured (attenuated) primary, our ENDF coefficient matches 20.4 at ICF-relevant ρR.</a:t>
            </a:r>
            <a:endParaRPr lang="en-US" sz="1500" dirty="0"/>
          </a:p>
          <a:p>
            <a:pPr indent="0" marL="0">
              <a:buNone/>
            </a:pPr>
            <a:r>
              <a:rPr lang="en-US" sz="1500" b="1" dirty="0">
                <a:solidFill>
                  <a:srgbClr val="99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residual slope</a:t>
            </a:r>
            <a:endParaRPr lang="en-US" sz="1500" dirty="0"/>
          </a:p>
          <a:p>
            <a:pPr indent="0" marL="0">
              <a:buNone/>
            </a:pPr>
            <a:r>
              <a:rPr lang="en-US" sz="13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 the single-scatter limit — full transport (OpenMC) closes it (next slides).</a:t>
            </a:r>
            <a:endParaRPr lang="en-US" sz="15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01168" y="201168"/>
            <a:ext cx="11786616" cy="6455664"/>
          </a:xfrm>
          <a:prstGeom prst="rect">
            <a:avLst/>
          </a:prstGeom>
          <a:ln w="34925">
            <a:solidFill>
              <a:srgbClr val="00595F"/>
            </a:solidFill>
            <a:prstDash val="solid"/>
          </a:ln>
        </p:spPr>
      </p:sp>
      <p:pic>
        <p:nvPicPr>
          <p:cNvPr id="3" name="Image 0" descr="/tmp/mecs/mecs_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84048" y="6035040"/>
            <a:ext cx="457200" cy="419065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05256" y="6035040"/>
            <a:ext cx="14630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MECS</a:t>
            </a:r>
            <a:endParaRPr lang="en-US" sz="1300" dirty="0"/>
          </a:p>
        </p:txBody>
      </p:sp>
      <p:sp>
        <p:nvSpPr>
          <p:cNvPr id="5" name="Text 2"/>
          <p:cNvSpPr/>
          <p:nvPr/>
        </p:nvSpPr>
        <p:spPr>
          <a:xfrm>
            <a:off x="594360" y="45720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99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N210808 — OpenMC transport confirms the choice</a:t>
            </a:r>
            <a:endParaRPr lang="en-US" sz="2600" dirty="0"/>
          </a:p>
        </p:txBody>
      </p:sp>
      <p:sp>
        <p:nvSpPr>
          <p:cNvPr id="6" name="Text 3"/>
          <p:cNvSpPr/>
          <p:nvPr/>
        </p:nvSpPr>
        <p:spPr>
          <a:xfrm>
            <a:off x="594360" y="1097280"/>
            <a:ext cx="11064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NeSST with the </a:t>
            </a:r>
            <a:pPr indent="0" marL="0">
              <a:buNone/>
            </a:pPr>
            <a:r>
              <a:rPr lang="en-US" sz="1400" b="1" dirty="0">
                <a:solidFill>
                  <a:srgbClr val="C08A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center-to-edge (Method 1)</a:t>
            </a:r>
            <a:pPr indent="0" marL="0">
              <a:buNone/>
            </a:pPr>
            <a:r>
              <a:rPr lang="en-US" sz="14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ρR gives DSR ~10%. OpenMC transport and Method 2 give what neutrons </a:t>
            </a:r>
            <a:pPr indent="0" marL="0">
              <a:buNone/>
            </a:pPr>
            <a:r>
              <a:rPr lang="en-US" sz="1400" b="1" dirty="0">
                <a:solidFill>
                  <a:srgbClr val="99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traverse</a:t>
            </a:r>
            <a:pPr indent="0" marL="0">
              <a:buNone/>
            </a:pPr>
            <a:r>
              <a:rPr lang="en-US" sz="14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ρR ~0.3, DSR ~4.3% (≈ the pipeline's 4.5%).</a:t>
            </a:r>
            <a:endParaRPr lang="en-US" sz="1400" dirty="0"/>
          </a:p>
        </p:txBody>
      </p:sp>
      <p:graphicFrame>
        <p:nvGraphicFramePr>
          <p:cNvPr id="7" name="Chart 0" descr=""/>
          <p:cNvGraphicFramePr/>
          <p:nvPr/>
        </p:nvGraphicFramePr>
        <p:xfrm>
          <a:off x="502920" y="1828800"/>
          <a:ext cx="4297680" cy="29260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8" name="Shape 4"/>
          <p:cNvSpPr/>
          <p:nvPr/>
        </p:nvSpPr>
        <p:spPr>
          <a:xfrm>
            <a:off x="502920" y="4956048"/>
            <a:ext cx="2084832" cy="960120"/>
          </a:xfrm>
          <a:prstGeom prst="roundRect">
            <a:avLst>
              <a:gd name="adj" fmla="val 5714"/>
            </a:avLst>
          </a:prstGeom>
          <a:solidFill>
            <a:srgbClr val="1C3A63"/>
          </a:solidFill>
          <a:ln/>
        </p:spPr>
      </p:sp>
      <p:sp>
        <p:nvSpPr>
          <p:cNvPr id="9" name="Text 5"/>
          <p:cNvSpPr/>
          <p:nvPr/>
        </p:nvSpPr>
        <p:spPr>
          <a:xfrm>
            <a:off x="502920" y="5065776"/>
            <a:ext cx="208483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4.3%</a:t>
            </a:r>
            <a:endParaRPr lang="en-US" sz="2600" dirty="0"/>
          </a:p>
        </p:txBody>
      </p:sp>
      <p:sp>
        <p:nvSpPr>
          <p:cNvPr id="10" name="Text 6"/>
          <p:cNvSpPr/>
          <p:nvPr/>
        </p:nvSpPr>
        <p:spPr>
          <a:xfrm>
            <a:off x="566928" y="5559552"/>
            <a:ext cx="195681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CBD8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DSR — traversed (OpenMC)</a:t>
            </a:r>
            <a:endParaRPr lang="en-US" sz="1050" dirty="0"/>
          </a:p>
        </p:txBody>
      </p:sp>
      <p:sp>
        <p:nvSpPr>
          <p:cNvPr id="11" name="Shape 7"/>
          <p:cNvSpPr/>
          <p:nvPr/>
        </p:nvSpPr>
        <p:spPr>
          <a:xfrm>
            <a:off x="2715768" y="4956048"/>
            <a:ext cx="2084832" cy="960120"/>
          </a:xfrm>
          <a:prstGeom prst="roundRect">
            <a:avLst>
              <a:gd name="adj" fmla="val 5714"/>
            </a:avLst>
          </a:prstGeom>
          <a:solidFill>
            <a:srgbClr val="1C3A63"/>
          </a:solidFill>
          <a:ln/>
        </p:spPr>
      </p:sp>
      <p:sp>
        <p:nvSpPr>
          <p:cNvPr id="12" name="Text 8"/>
          <p:cNvSpPr/>
          <p:nvPr/>
        </p:nvSpPr>
        <p:spPr>
          <a:xfrm>
            <a:off x="2715768" y="5065776"/>
            <a:ext cx="208483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C08A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10.1%</a:t>
            </a:r>
            <a:endParaRPr lang="en-US" sz="2600" dirty="0"/>
          </a:p>
        </p:txBody>
      </p:sp>
      <p:sp>
        <p:nvSpPr>
          <p:cNvPr id="13" name="Text 9"/>
          <p:cNvSpPr/>
          <p:nvPr/>
        </p:nvSpPr>
        <p:spPr>
          <a:xfrm>
            <a:off x="2779776" y="5559552"/>
            <a:ext cx="195681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CBD8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DSR — center-to-edge (M1)</a:t>
            </a:r>
            <a:endParaRPr lang="en-US" sz="1050" dirty="0"/>
          </a:p>
        </p:txBody>
      </p:sp>
      <p:pic>
        <p:nvPicPr>
          <p:cNvPr id="14" name="Image 1" descr="/tmp/mecs/openmc_nesst_cmp_neutron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57800" y="1691640"/>
            <a:ext cx="6355080" cy="3903612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5303520" y="5532120"/>
            <a:ext cx="6309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0059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Abu-Shawareb (NIF):  </a:t>
            </a:r>
            <a:pPr indent="0" marL="0">
              <a:buNone/>
            </a:pPr>
            <a:r>
              <a:rPr lang="en-US" sz="1150" i="1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“the areal density…is emission weighted to larger radii” — DSR tracks the traversed ρR. Pipeline now feeds NeSST the Method-2 ρR (→ DSR ≈ 4.5%, matching OpenMC).</a:t>
            </a:r>
            <a:endParaRPr lang="en-US" sz="11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01168" y="201168"/>
            <a:ext cx="11786616" cy="6455664"/>
          </a:xfrm>
          <a:prstGeom prst="rect">
            <a:avLst/>
          </a:prstGeom>
          <a:ln w="34925">
            <a:solidFill>
              <a:srgbClr val="00595F"/>
            </a:solidFill>
            <a:prstDash val="solid"/>
          </a:ln>
        </p:spPr>
      </p:sp>
      <p:pic>
        <p:nvPicPr>
          <p:cNvPr id="3" name="Image 0" descr="/tmp/mecs/mecs_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84048" y="6035040"/>
            <a:ext cx="457200" cy="419065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05256" y="6035040"/>
            <a:ext cx="14630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MECS</a:t>
            </a:r>
            <a:endParaRPr lang="en-US" sz="1300" dirty="0"/>
          </a:p>
        </p:txBody>
      </p:sp>
      <p:sp>
        <p:nvSpPr>
          <p:cNvPr id="5" name="Text 2"/>
          <p:cNvSpPr/>
          <p:nvPr/>
        </p:nvSpPr>
        <p:spPr>
          <a:xfrm>
            <a:off x="594360" y="45720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99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absolute-yield unfold is design-specific</a:t>
            </a:r>
            <a:endParaRPr lang="en-US" sz="2600" dirty="0"/>
          </a:p>
        </p:txBody>
      </p:sp>
      <p:sp>
        <p:nvSpPr>
          <p:cNvPr id="6" name="Text 3"/>
          <p:cNvSpPr/>
          <p:nvPr/>
        </p:nvSpPr>
        <p:spPr>
          <a:xfrm>
            <a:off x="594360" y="109728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NIF unfolds total yield from the measured 13–15 MeV yield via  </a:t>
            </a:r>
            <a:pPr indent="0" marL="0">
              <a:buNone/>
            </a:pPr>
            <a:r>
              <a:rPr lang="en-US" sz="1400" b="1" dirty="0">
                <a:solidFill>
                  <a:srgbClr val="0059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Y_total = Y(13–15) · e^(4·DSR).</a:t>
            </a:r>
            <a:pPr indent="0" marL="0">
              <a:buNone/>
            </a:pPr>
            <a:r>
              <a:rPr lang="en-US" sz="14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We reproduced this from the OpenMC escaping spectrum.</a:t>
            </a:r>
            <a:endParaRPr lang="en-US" sz="1400" dirty="0"/>
          </a:p>
        </p:txBody>
      </p:sp>
      <p:sp>
        <p:nvSpPr>
          <p:cNvPr id="7" name="Shape 4"/>
          <p:cNvSpPr/>
          <p:nvPr/>
        </p:nvSpPr>
        <p:spPr>
          <a:xfrm>
            <a:off x="548640" y="1828800"/>
            <a:ext cx="3429000" cy="1783080"/>
          </a:xfrm>
          <a:prstGeom prst="roundRect">
            <a:avLst>
              <a:gd name="adj" fmla="val 3077"/>
            </a:avLst>
          </a:prstGeom>
          <a:solidFill>
            <a:srgbClr val="1C3A63"/>
          </a:solidFill>
          <a:ln/>
        </p:spPr>
      </p:sp>
      <p:sp>
        <p:nvSpPr>
          <p:cNvPr id="8" name="Text 5"/>
          <p:cNvSpPr/>
          <p:nvPr/>
        </p:nvSpPr>
        <p:spPr>
          <a:xfrm>
            <a:off x="548640" y="2011680"/>
            <a:ext cx="3429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 ≈ 5.6</a:t>
            </a:r>
            <a:endParaRPr lang="en-US" sz="4400" dirty="0"/>
          </a:p>
        </p:txBody>
      </p:sp>
      <p:sp>
        <p:nvSpPr>
          <p:cNvPr id="9" name="Text 6"/>
          <p:cNvSpPr/>
          <p:nvPr/>
        </p:nvSpPr>
        <p:spPr>
          <a:xfrm>
            <a:off x="548640" y="2880360"/>
            <a:ext cx="3429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CBD8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effective exponent (our transport)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548640" y="3172968"/>
            <a:ext cx="3429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C08A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vs the DT-calibrated 4</a:t>
            </a:r>
            <a:endParaRPr lang="en-US" sz="1200" dirty="0"/>
          </a:p>
        </p:txBody>
      </p:sp>
      <p:graphicFrame>
        <p:nvGraphicFramePr>
          <p:cNvPr id="11" name="Chart 0" descr=""/>
          <p:cNvGraphicFramePr/>
          <p:nvPr/>
        </p:nvGraphicFramePr>
        <p:xfrm>
          <a:off x="4251960" y="1828800"/>
          <a:ext cx="3977640" cy="17830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12" name="Shape 8"/>
          <p:cNvSpPr/>
          <p:nvPr/>
        </p:nvSpPr>
        <p:spPr>
          <a:xfrm>
            <a:off x="8503920" y="1828800"/>
            <a:ext cx="3136392" cy="1783080"/>
          </a:xfrm>
          <a:prstGeom prst="roundRect">
            <a:avLst>
              <a:gd name="adj" fmla="val 3077"/>
            </a:avLst>
          </a:prstGeom>
          <a:solidFill>
            <a:srgbClr val="1C3A63"/>
          </a:solidFill>
          <a:ln/>
        </p:spPr>
      </p:sp>
      <p:sp>
        <p:nvSpPr>
          <p:cNvPr id="13" name="Text 9"/>
          <p:cNvSpPr/>
          <p:nvPr/>
        </p:nvSpPr>
        <p:spPr>
          <a:xfrm>
            <a:off x="8503920" y="2011680"/>
            <a:ext cx="313639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C08A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≈ 7%</a:t>
            </a:r>
            <a:endParaRPr lang="en-US" sz="3800" dirty="0"/>
          </a:p>
        </p:txBody>
      </p:sp>
      <p:sp>
        <p:nvSpPr>
          <p:cNvPr id="14" name="Text 10"/>
          <p:cNvSpPr/>
          <p:nvPr/>
        </p:nvSpPr>
        <p:spPr>
          <a:xfrm>
            <a:off x="8686800" y="2743200"/>
            <a:ext cx="277063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CBD8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 4·DSR unfold under-estimates total yield for this HDC target</a:t>
            </a:r>
            <a:endParaRPr lang="en-US" sz="1200" dirty="0"/>
          </a:p>
        </p:txBody>
      </p:sp>
      <p:sp>
        <p:nvSpPr>
          <p:cNvPr id="15" name="Text 11"/>
          <p:cNvSpPr/>
          <p:nvPr/>
        </p:nvSpPr>
        <p:spPr>
          <a:xfrm>
            <a:off x="594360" y="393192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99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the exponent runs high</a:t>
            </a:r>
            <a:endParaRPr lang="en-US" sz="1700" dirty="0"/>
          </a:p>
        </p:txBody>
      </p:sp>
      <p:sp>
        <p:nvSpPr>
          <p:cNvPr id="16" name="Text 12"/>
          <p:cNvSpPr/>
          <p:nvPr/>
        </p:nvSpPr>
        <p:spPr>
          <a:xfrm>
            <a:off x="594360" y="4315968"/>
            <a:ext cx="1106424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800"/>
              </a:spcAft>
              <a:buNone/>
            </a:pPr>
            <a:r>
              <a:rPr lang="en-US" sz="14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n–¹²C elastic scattering loses little energy per collision (heavy nucleus), so the carbon ablator pushes 14 MeV neutrons mainly into the 12–13 MeV band — out of the 13–15 MeV unscattered window, but above the 10–12 MeV DSR window. That inflates scattered-out / DSR above the DT-only value of 4.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 backing out the ~1–2% DD/TT source content the exponent is still ~5.1–5.2 — robustly above 4. A DT-only source run would pin it exactly.</a:t>
            </a:r>
            <a:endParaRPr lang="en-US" sz="14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01168" y="201168"/>
            <a:ext cx="11786616" cy="6455664"/>
          </a:xfrm>
          <a:prstGeom prst="rect">
            <a:avLst/>
          </a:prstGeom>
          <a:ln w="34925">
            <a:solidFill>
              <a:srgbClr val="00595F"/>
            </a:solidFill>
            <a:prstDash val="solid"/>
          </a:ln>
        </p:spPr>
      </p:sp>
      <p:pic>
        <p:nvPicPr>
          <p:cNvPr id="3" name="Image 0" descr="/tmp/mecs/mecs_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84048" y="6035040"/>
            <a:ext cx="457200" cy="419065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05256" y="6035040"/>
            <a:ext cx="14630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MECS</a:t>
            </a:r>
            <a:endParaRPr lang="en-US" sz="1300" dirty="0"/>
          </a:p>
        </p:txBody>
      </p:sp>
      <p:sp>
        <p:nvSpPr>
          <p:cNvPr id="5" name="Text 2"/>
          <p:cNvSpPr/>
          <p:nvPr/>
        </p:nvSpPr>
        <p:spPr>
          <a:xfrm>
            <a:off x="594360" y="45720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99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Escaping gammas — the carbon fingerprint</a:t>
            </a:r>
            <a:endParaRPr lang="en-US" sz="2600" dirty="0"/>
          </a:p>
        </p:txBody>
      </p:sp>
      <p:pic>
        <p:nvPicPr>
          <p:cNvPr id="6" name="Image 1" descr="/tmp/mecs/openmc_nesst_cmp_gamma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371600"/>
            <a:ext cx="6675120" cy="4095166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7498080" y="1691640"/>
            <a:ext cx="4206240" cy="4206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0059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Full-physics run, photons on</a:t>
            </a:r>
            <a:endParaRPr lang="en-US" sz="1600" dirty="0"/>
          </a:p>
          <a:p>
            <a:pPr indent="0" marL="0">
              <a:spcAft>
                <a:spcPts val="1600"/>
              </a:spcAft>
              <a:buNone/>
            </a:pPr>
            <a:r>
              <a:rPr lang="en-US" sz="14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0.0070 escaping photons per source neutron.</a:t>
            </a:r>
            <a:endParaRPr lang="en-US" sz="1600" dirty="0"/>
          </a:p>
          <a:p>
            <a:pPr indent="0" marL="0">
              <a:buNone/>
            </a:pPr>
            <a:r>
              <a:rPr lang="en-US" sz="1600" b="1" dirty="0">
                <a:solidFill>
                  <a:srgbClr val="99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Dominated by carbon</a:t>
            </a:r>
            <a:endParaRPr lang="en-US" sz="1600" dirty="0"/>
          </a:p>
          <a:p>
            <a:pPr indent="0" marL="0">
              <a:spcAft>
                <a:spcPts val="1600"/>
              </a:spcAft>
              <a:buNone/>
            </a:pPr>
            <a:r>
              <a:rPr lang="en-US" sz="14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¹²C(n,n′γ) 4.4 MeV inelastic line outweighs the H(n,γ) 2.2 MeV capture line ~540:1.</a:t>
            </a:r>
            <a:endParaRPr lang="en-US" sz="1600" dirty="0"/>
          </a:p>
          <a:p>
            <a:pPr indent="0" marL="0">
              <a:buNone/>
            </a:pPr>
            <a:r>
              <a:rPr lang="en-US" sz="1600" b="1" dirty="0">
                <a:solidFill>
                  <a:srgbClr val="0059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clean HDC-ablator diagnostic</a:t>
            </a:r>
            <a:endParaRPr lang="en-US" sz="1600" dirty="0"/>
          </a:p>
          <a:p>
            <a:pPr indent="0" marL="0">
              <a:buNone/>
            </a:pPr>
            <a:r>
              <a:rPr lang="en-US" sz="14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4.4 MeV line is a quantitative signature of the ablator carbon — an extra handle beyond the neutron spectrum.</a:t>
            </a:r>
            <a:endParaRPr lang="en-US" sz="16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01168" y="201168"/>
            <a:ext cx="11786616" cy="6455664"/>
          </a:xfrm>
          <a:prstGeom prst="rect">
            <a:avLst/>
          </a:prstGeom>
          <a:ln w="34925">
            <a:solidFill>
              <a:srgbClr val="00595F"/>
            </a:solidFill>
            <a:prstDash val="solid"/>
          </a:ln>
        </p:spPr>
      </p:sp>
      <p:pic>
        <p:nvPicPr>
          <p:cNvPr id="3" name="Image 0" descr="/tmp/mecs/mecs_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84048" y="6035040"/>
            <a:ext cx="457200" cy="419065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05256" y="6035040"/>
            <a:ext cx="14630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MECS</a:t>
            </a:r>
            <a:endParaRPr lang="en-US" sz="1300" dirty="0"/>
          </a:p>
        </p:txBody>
      </p:sp>
      <p:sp>
        <p:nvSpPr>
          <p:cNvPr id="5" name="Text 2"/>
          <p:cNvSpPr/>
          <p:nvPr/>
        </p:nvSpPr>
        <p:spPr>
          <a:xfrm>
            <a:off x="594360" y="45720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99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it connects to the team</a:t>
            </a:r>
            <a:endParaRPr lang="en-US" sz="2600" dirty="0"/>
          </a:p>
        </p:txBody>
      </p:sp>
      <p:pic>
        <p:nvPicPr>
          <p:cNvPr id="6" name="Image 1" descr="/tmp/mecs/xcimer_architectur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15184" y="1234440"/>
            <a:ext cx="6949440" cy="4268698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914400" y="5623560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i="1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source-term bridge from Helios to the tools each Xcimer team already uses — neutron, x-ray, chamber, and charged-particle.</a:t>
            </a:r>
            <a:endParaRPr lang="en-US" sz="12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01168" y="201168"/>
            <a:ext cx="11786616" cy="6455664"/>
          </a:xfrm>
          <a:prstGeom prst="rect">
            <a:avLst/>
          </a:prstGeom>
          <a:ln w="34925">
            <a:solidFill>
              <a:srgbClr val="00595F"/>
            </a:solidFill>
            <a:prstDash val="solid"/>
          </a:ln>
        </p:spPr>
      </p:sp>
      <p:pic>
        <p:nvPicPr>
          <p:cNvPr id="3" name="Image 0" descr="/tmp/mecs/mecs_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84048" y="6035040"/>
            <a:ext cx="457200" cy="419065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05256" y="6035040"/>
            <a:ext cx="14630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MECS</a:t>
            </a:r>
            <a:endParaRPr lang="en-US" sz="1300" dirty="0"/>
          </a:p>
        </p:txBody>
      </p:sp>
      <p:sp>
        <p:nvSpPr>
          <p:cNvPr id="5" name="Text 2"/>
          <p:cNvSpPr/>
          <p:nvPr/>
        </p:nvSpPr>
        <p:spPr>
          <a:xfrm>
            <a:off x="594360" y="45720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99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this goes next — the transport hand-off</a:t>
            </a:r>
            <a:endParaRPr lang="en-US" sz="2600" dirty="0"/>
          </a:p>
        </p:txBody>
      </p:sp>
      <p:sp>
        <p:nvSpPr>
          <p:cNvPr id="6" name="Text 3"/>
          <p:cNvSpPr/>
          <p:nvPr/>
        </p:nvSpPr>
        <p:spPr>
          <a:xfrm>
            <a:off x="594360" y="100584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diagnostics above are single-scatter. The next step is to hand a complete birth source to full-transport codes and close the loop on TBR, damage, and detector response.</a:t>
            </a:r>
            <a:endParaRPr lang="en-US" sz="1300" dirty="0"/>
          </a:p>
        </p:txBody>
      </p:sp>
      <p:sp>
        <p:nvSpPr>
          <p:cNvPr id="7" name="Shape 4"/>
          <p:cNvSpPr/>
          <p:nvPr/>
        </p:nvSpPr>
        <p:spPr>
          <a:xfrm>
            <a:off x="548640" y="1691640"/>
            <a:ext cx="3977640" cy="2103120"/>
          </a:xfrm>
          <a:prstGeom prst="roundRect">
            <a:avLst>
              <a:gd name="adj" fmla="val 3478"/>
            </a:avLst>
          </a:prstGeom>
          <a:solidFill>
            <a:srgbClr val="F4F7FB"/>
          </a:solidFill>
          <a:ln w="15240">
            <a:solidFill>
              <a:srgbClr val="D5E0EE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749808" y="1847088"/>
            <a:ext cx="357530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99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helios_postprocess  (source)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749808" y="2286000"/>
            <a:ext cx="3575304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Birth source: DT 14.06 + DD 2.45 + TT continuum</a:t>
            </a:r>
            <a:endParaRPr lang="en-US" sz="11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Exact per-channel yields · (n,2n) multiplication</a:t>
            </a:r>
            <a:endParaRPr lang="en-US" sz="1150" dirty="0"/>
          </a:p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RHW geometry &amp; material map · number-conserving</a:t>
            </a:r>
            <a:endParaRPr lang="en-US" sz="1150" dirty="0"/>
          </a:p>
        </p:txBody>
      </p:sp>
      <p:sp>
        <p:nvSpPr>
          <p:cNvPr id="10" name="Text 7"/>
          <p:cNvSpPr/>
          <p:nvPr/>
        </p:nvSpPr>
        <p:spPr>
          <a:xfrm>
            <a:off x="4526280" y="2286000"/>
            <a:ext cx="6400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3200" dirty="0"/>
          </a:p>
        </p:txBody>
      </p:sp>
      <p:sp>
        <p:nvSpPr>
          <p:cNvPr id="11" name="Shape 8"/>
          <p:cNvSpPr/>
          <p:nvPr/>
        </p:nvSpPr>
        <p:spPr>
          <a:xfrm>
            <a:off x="5166360" y="1691640"/>
            <a:ext cx="3200400" cy="2103120"/>
          </a:xfrm>
          <a:prstGeom prst="roundRect">
            <a:avLst>
              <a:gd name="adj" fmla="val 3478"/>
            </a:avLst>
          </a:prstGeom>
          <a:solidFill>
            <a:srgbClr val="F4F7FB"/>
          </a:solidFill>
          <a:ln w="15240">
            <a:solidFill>
              <a:srgbClr val="D5E0EE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5367528" y="1847088"/>
            <a:ext cx="279806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99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OpenMC  (chamber)</a:t>
            </a:r>
            <a:endParaRPr lang="en-US" sz="1600" dirty="0"/>
          </a:p>
        </p:txBody>
      </p:sp>
      <p:sp>
        <p:nvSpPr>
          <p:cNvPr id="13" name="Text 10"/>
          <p:cNvSpPr/>
          <p:nvPr/>
        </p:nvSpPr>
        <p:spPr>
          <a:xfrm>
            <a:off x="5367528" y="2286000"/>
            <a:ext cx="2798064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Neutron transport through blanket &amp; first wall</a:t>
            </a:r>
            <a:endParaRPr lang="en-US" sz="11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Tritium breeding ratio (TBR)</a:t>
            </a:r>
            <a:endParaRPr lang="en-US" sz="1150" dirty="0"/>
          </a:p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First-wall dpa, activation, shielding</a:t>
            </a:r>
            <a:endParaRPr lang="en-US" sz="1150" dirty="0"/>
          </a:p>
        </p:txBody>
      </p:sp>
      <p:sp>
        <p:nvSpPr>
          <p:cNvPr id="14" name="Shape 11"/>
          <p:cNvSpPr/>
          <p:nvPr/>
        </p:nvSpPr>
        <p:spPr>
          <a:xfrm>
            <a:off x="8503920" y="1691640"/>
            <a:ext cx="3108960" cy="2103120"/>
          </a:xfrm>
          <a:prstGeom prst="roundRect">
            <a:avLst>
              <a:gd name="adj" fmla="val 3478"/>
            </a:avLst>
          </a:prstGeom>
          <a:solidFill>
            <a:srgbClr val="F4F7FB"/>
          </a:solidFill>
          <a:ln w="15240">
            <a:solidFill>
              <a:srgbClr val="D5E0EE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8705088" y="1847088"/>
            <a:ext cx="270662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99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FLUKA  (detectors)</a:t>
            </a:r>
            <a:endParaRPr lang="en-US" sz="1600" dirty="0"/>
          </a:p>
        </p:txBody>
      </p:sp>
      <p:sp>
        <p:nvSpPr>
          <p:cNvPr id="16" name="Text 13"/>
          <p:cNvSpPr/>
          <p:nvPr/>
        </p:nvSpPr>
        <p:spPr>
          <a:xfrm>
            <a:off x="8705088" y="2286000"/>
            <a:ext cx="2706624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Detector &amp; diagnostic response</a:t>
            </a:r>
            <a:endParaRPr lang="en-US" sz="11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γ and charged-particle transport</a:t>
            </a:r>
            <a:endParaRPr lang="en-US" sz="1150" dirty="0"/>
          </a:p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nTOF instrument forward model</a:t>
            </a:r>
            <a:endParaRPr lang="en-US" sz="1150" dirty="0"/>
          </a:p>
        </p:txBody>
      </p:sp>
      <p:sp>
        <p:nvSpPr>
          <p:cNvPr id="17" name="Shape 14"/>
          <p:cNvSpPr/>
          <p:nvPr/>
        </p:nvSpPr>
        <p:spPr>
          <a:xfrm>
            <a:off x="548640" y="3977640"/>
            <a:ext cx="11018520" cy="1874520"/>
          </a:xfrm>
          <a:prstGeom prst="roundRect">
            <a:avLst>
              <a:gd name="adj" fmla="val 3902"/>
            </a:avLst>
          </a:prstGeom>
          <a:solidFill>
            <a:srgbClr val="F0F5FB"/>
          </a:solidFill>
          <a:ln w="15240">
            <a:solidFill>
              <a:srgbClr val="00595F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777240" y="4114800"/>
            <a:ext cx="10515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99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this fits with Kyle's neutronics work</a:t>
            </a:r>
            <a:endParaRPr lang="en-US" sz="1500" dirty="0"/>
          </a:p>
        </p:txBody>
      </p:sp>
      <p:sp>
        <p:nvSpPr>
          <p:cNvPr id="19" name="Text 16"/>
          <p:cNvSpPr/>
          <p:nvPr/>
        </p:nvSpPr>
        <p:spPr>
          <a:xfrm>
            <a:off x="777240" y="4434840"/>
            <a:ext cx="105156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0059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starting point.  </a:t>
            </a:r>
            <a:pPr indent="0" marL="0">
              <a:spcAft>
                <a:spcPts val="700"/>
              </a:spcAft>
              <a:buNone/>
            </a:pPr>
            <a:r>
              <a:rPr lang="en-US" sz="11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Both chains begin with the Helios run. Kyle owns target design + birth-source extraction (neutronics_output.py) — we reproduce his source term to 0.00%, so the pipelines are anchored to the same numbers.</a:t>
            </a:r>
            <a:endParaRPr lang="en-US" sz="1150" dirty="0"/>
          </a:p>
          <a:p>
            <a:pPr indent="0" marL="0">
              <a:buNone/>
            </a:pPr>
            <a:r>
              <a:rPr lang="en-US" sz="1150" b="1" dirty="0">
                <a:solidFill>
                  <a:srgbClr val="99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we add.  </a:t>
            </a:r>
            <a:pPr indent="0" marL="0">
              <a:spcAft>
                <a:spcPts val="700"/>
              </a:spcAft>
              <a:buNone/>
            </a:pPr>
            <a:r>
              <a:rPr lang="en-US" sz="11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within-target scattering — depleted escaping spectrum, DSR→ρR, synthetic nTOF — plus a multi-channel, number-conserving source. Kyle's OpenMC deck consumes exactly this source; we feed his chamber model, not duplicate it.</a:t>
            </a:r>
            <a:endParaRPr lang="en-US" sz="1150" dirty="0"/>
          </a:p>
          <a:p>
            <a:pPr indent="0" marL="0">
              <a:buNone/>
            </a:pPr>
            <a:r>
              <a:rPr lang="en-US" sz="1150" b="1" dirty="0">
                <a:solidFill>
                  <a:srgbClr val="C08A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Division of labor.  </a:t>
            </a:r>
            <a:pPr indent="0" marL="0">
              <a:buNone/>
            </a:pPr>
            <a:r>
              <a:rPr lang="en-US" sz="11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helios_postprocess = in-target diagnostics + transport-ready source;  OpenMC (Kyle / Owen) = chamber, TBR, damage;  FLUKA = detector &amp; γ. One source term, three consumers.</a:t>
            </a:r>
            <a:endParaRPr lang="en-US" sz="11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01168" y="201168"/>
            <a:ext cx="11786616" cy="6455664"/>
          </a:xfrm>
          <a:prstGeom prst="rect">
            <a:avLst/>
          </a:prstGeom>
          <a:ln w="34925">
            <a:solidFill>
              <a:srgbClr val="00595F"/>
            </a:solidFill>
            <a:prstDash val="solid"/>
          </a:ln>
        </p:spPr>
      </p:sp>
      <p:pic>
        <p:nvPicPr>
          <p:cNvPr id="3" name="Image 0" descr="/tmp/mecs/mecs_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84048" y="6035040"/>
            <a:ext cx="457200" cy="419065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05256" y="6035040"/>
            <a:ext cx="14630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MECS</a:t>
            </a:r>
            <a:endParaRPr lang="en-US" sz="1300" dirty="0"/>
          </a:p>
        </p:txBody>
      </p:sp>
      <p:sp>
        <p:nvSpPr>
          <p:cNvPr id="5" name="Text 2"/>
          <p:cNvSpPr/>
          <p:nvPr/>
        </p:nvSpPr>
        <p:spPr>
          <a:xfrm>
            <a:off x="594360" y="45720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99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Summary &amp; next steps</a:t>
            </a:r>
            <a:endParaRPr lang="en-US" sz="2600" dirty="0"/>
          </a:p>
        </p:txBody>
      </p:sp>
      <p:sp>
        <p:nvSpPr>
          <p:cNvPr id="6" name="Text 3"/>
          <p:cNvSpPr/>
          <p:nvPr/>
        </p:nvSpPr>
        <p:spPr>
          <a:xfrm>
            <a:off x="621792" y="137160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0059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DELIVERED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621792" y="1783080"/>
            <a:ext cx="548640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100"/>
              </a:spcAft>
              <a:buSzPct val="100000"/>
              <a:buChar char="✓"/>
            </a:pPr>
            <a:r>
              <a:rPr lang="en-US" sz="14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Birth → DSR → nTOF in run_analysis; multi-material scatter (carbon, RHW-read).</a:t>
            </a:r>
            <a:endParaRPr lang="en-US" sz="1400" dirty="0"/>
          </a:p>
          <a:p>
            <a:pPr marL="342900" indent="-342900">
              <a:spcAft>
                <a:spcPts val="1100"/>
              </a:spcAft>
              <a:buSzPct val="100000"/>
              <a:buChar char="✓"/>
            </a:pPr>
            <a:r>
              <a:rPr lang="en-US" sz="14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OpenMC full-physics transport validated on both machines; Helios→OpenMC source/geometry bridge.</a:t>
            </a:r>
            <a:endParaRPr lang="en-US" sz="1400" dirty="0"/>
          </a:p>
          <a:p>
            <a:pPr marL="342900" indent="-342900">
              <a:spcAft>
                <a:spcPts val="1100"/>
              </a:spcAft>
              <a:buSzPct val="100000"/>
              <a:buChar char="✓"/>
            </a:pPr>
            <a:r>
              <a:rPr lang="en-US" sz="14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DSR switched to the emission-weighted (Method-2) ρR — pipeline now reports 4.5%, matching OpenMC (4.3%); center-to-edge over-predicts (10%).</a:t>
            </a:r>
            <a:endParaRPr lang="en-US" sz="1400" dirty="0"/>
          </a:p>
          <a:p>
            <a:pPr marL="342900" indent="-342900">
              <a:buSzPct val="100000"/>
              <a:buChar char="✓"/>
            </a:pPr>
            <a:r>
              <a:rPr lang="en-US" sz="14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Yield-unfold exponent ≈ 5 (not 4) for carbon ablators; carbon 4.4 MeV γ signature.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6446520" y="137160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0059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6446520" y="1783080"/>
            <a:ext cx="512064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100"/>
              </a:spcAft>
              <a:buSzPct val="100000"/>
              <a:buChar char="→"/>
            </a:pPr>
            <a:r>
              <a:rPr lang="en-US" sz="14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Degraded / under-igniting N210808 to map the Method-1/2 gap and unfold exponent vs yield.</a:t>
            </a:r>
            <a:endParaRPr lang="en-US" sz="1400" dirty="0"/>
          </a:p>
          <a:p>
            <a:pPr marL="342900" indent="-342900">
              <a:spcAft>
                <a:spcPts val="1100"/>
              </a:spcAft>
              <a:buSzPct val="100000"/>
              <a:buChar char="→"/>
            </a:pPr>
            <a:r>
              <a:rPr lang="en-US" sz="14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 the multi-channel source to OpenMC (TBR, dpa — Kyle / Owen) &amp; FLUKA (detectors).</a:t>
            </a:r>
            <a:endParaRPr lang="en-US" sz="1400" dirty="0"/>
          </a:p>
          <a:p>
            <a:pPr marL="342900" indent="-342900">
              <a:spcAft>
                <a:spcPts val="1100"/>
              </a:spcAft>
              <a:buSzPct val="100000"/>
              <a:buChar char="→"/>
            </a:pPr>
            <a:r>
              <a:rPr lang="en-US" sz="14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DT-only source run; settle which ρR the empirical DSR↔ρR calibration is tied to.</a:t>
            </a:r>
            <a:endParaRPr lang="en-US" sz="1400" dirty="0"/>
          </a:p>
          <a:p>
            <a:pPr marL="342900" indent="-342900">
              <a:buSzPct val="100000"/>
              <a:buChar char="→"/>
            </a:pPr>
            <a:r>
              <a:rPr lang="en-US" sz="14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Synthetic x-ray streak-camera image (SPECT3D).</a:t>
            </a:r>
            <a:endParaRPr lang="en-US" sz="1400" dirty="0"/>
          </a:p>
        </p:txBody>
      </p:sp>
      <p:sp>
        <p:nvSpPr>
          <p:cNvPr id="10" name="Shape 7"/>
          <p:cNvSpPr/>
          <p:nvPr/>
        </p:nvSpPr>
        <p:spPr>
          <a:xfrm>
            <a:off x="621792" y="5029200"/>
            <a:ext cx="10945368" cy="640080"/>
          </a:xfrm>
          <a:prstGeom prst="roundRect">
            <a:avLst>
              <a:gd name="adj" fmla="val 8571"/>
            </a:avLst>
          </a:prstGeom>
          <a:solidFill>
            <a:srgbClr val="1C3A63"/>
          </a:solidFill>
          <a:ln/>
        </p:spPr>
      </p:sp>
      <p:sp>
        <p:nvSpPr>
          <p:cNvPr id="11" name="Text 8"/>
          <p:cNvSpPr/>
          <p:nvPr/>
        </p:nvSpPr>
        <p:spPr>
          <a:xfrm>
            <a:off x="822960" y="5029200"/>
            <a:ext cx="10607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08A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Caveat:  </a:t>
            </a:r>
            <a:pPr indent="0" marL="0">
              <a:buNone/>
            </a:pPr>
            <a:r>
              <a:rPr lang="en-US" sz="1200" dirty="0">
                <a:solidFill>
                  <a:srgbClr val="CBD8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N210808 shown is a clean-1D over-igniting snapshot (Y≈15.6 vs 1.37 MJ) — demonstrates the method and the corrections, not an experimental match.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2026-07-31T18:22:08Z</dcterms:created>
  <dcterms:modified xsi:type="dcterms:W3CDTF">2026-07-31T18:22:08Z</dcterms:modified>
</cp:coreProperties>
</file>
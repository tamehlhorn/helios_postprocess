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21295C"/>
                </a:solidFill>
                <a:latin typeface="Calibri"/>
              </a:rPr>
              <a:t>Yield vs cone angle  (FL = 0.012, burn 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(MJ)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37° (baseline)</c:v>
                </c:pt>
                <c:pt idx="1">
                  <c:v>33°</c:v>
                </c:pt>
                <c:pt idx="2">
                  <c:v>28°</c:v>
                </c:pt>
                <c:pt idx="3">
                  <c:v>25°</c:v>
                </c:pt>
                <c:pt idx="4">
                  <c:v>20°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55</c:v>
                </c:pt>
                <c:pt idx="2">
                  <c:v>55</c:v>
                </c:pt>
                <c:pt idx="3">
                  <c:v>69</c:v>
                </c:pt>
                <c:pt idx="4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61-7847-AD81-7842F4B310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34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2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POSTPROCESS STATUS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Wetted-Foam Calibration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HDD WT_cthomas Reference Match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T. Mehlhorn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Michigan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meeting with W. Trickey, Xcimer Energy   ·   June 3,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wetted-foam calibration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44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fab007 production point, foam→ice isolation, kernel verification, 1D ray-trace limits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design study &amp; recommended anchors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Two-plateau yield staircase (FL=0.012 + geometric defocus); c33_burn / c25_burn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496312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4963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478024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WT_cthomas → Thomas Vulcan reference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7063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calibration knobs, picket-vs-FL isolation, production anchor picket_012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09544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2095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91256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cross-validation + adiabat convention story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483864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.exo match to 0.1% in matching convention; fully_ionized_dt vs partially_ionized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922776"/>
            <a:ext cx="777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922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904488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improvements + next steps for discussion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197096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RHINO diagnostics, convention-aware comparison; questions for Cliff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setup: Olson 2021 wetted-foam target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114800" cy="3611880"/>
          </a:xfrm>
          <a:prstGeom prst="rect">
            <a:avLst/>
          </a:prstGeom>
          <a:solidFill>
            <a:srgbClr val="F1F5F9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42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drive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Olson 2021 PDD wetted DT-CH foam capsule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Drive: NIF PDD; 2.15 MJ; 4-ring fixed-pointing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1D spherical ray-trace; foot 25 TW, peak 329 TW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point: fab007 (foot25_s018_c37_burn)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807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geometry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72968"/>
          <a:ext cx="3749040" cy="1295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 half-angle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cm (Gaussian)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 cm (≈ R_initial)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limiter f_prism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  (knee of FL curve)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deposition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Non-local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09160" y="795528"/>
            <a:ext cx="39776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8686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 reference (Olson 2021)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550541"/>
              </p:ext>
            </p:extLst>
          </p:nvPr>
        </p:nvGraphicFramePr>
        <p:xfrm>
          <a:off x="4914900" y="1110376"/>
          <a:ext cx="370332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Adiabat α (mass-avg)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V_impl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km/s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⟨T_hs⟩ (n-avg)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⟨P_hs⟩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 Gbar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 ρR (T&gt;4.5 keV)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09160" y="2807208"/>
            <a:ext cx="3977640" cy="1737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846320" y="2898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326440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LILAC kinematics AND yield with a defensible Helios calibration; identify what knobs (geometry, FL, EOS) close the gap; rule out Helios algorithm bugs.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Drive-phase calibration matches; yield deficit is real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832104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velocity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 km/s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km/s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ρR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⟨T_hs⟩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⟨P_hs⟩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 Gbar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 Gbar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Hot-spot ρR (T&gt;4.5 keV)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deficit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11480" y="3995928"/>
            <a:ext cx="83210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40416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0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phase reproduces LILAC within ±7% on every kinematic and thermodynamic metric. The deficit is in the burning phase — HS ρR collapses by 58% and yield falls 70% short. The drive calibration is fundamentally correct; something in the BURN physics is missing.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→ ice isolation: foam EOS+opacity dominates the residual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fab007 geometry, drive, and pulse — only the main fuel layer changes: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8321040" cy="13898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 FOAM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 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≈ LILAC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Hot-spot ρR (T&gt;4.5)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→ +103%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Burn-region ρ (g/cc)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reported)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2.5× foam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11480" y="2807208"/>
            <a:ext cx="4023360" cy="1828800"/>
          </a:xfrm>
          <a:prstGeom prst="rect">
            <a:avLst/>
          </a:prstGeom>
          <a:solidFill>
            <a:srgbClr val="F1F5F9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rules 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21868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calibration is correct (ice → LILAC within 7%)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Wetted-foam main fuel is the dominant residual contributor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burn-region density 60% below ice — burn rate ∝ n²⟨σv⟩ drops ~20× locally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2807208"/>
            <a:ext cx="4023360" cy="1828800"/>
          </a:xfrm>
          <a:prstGeom prst="rect">
            <a:avLst/>
          </a:prstGeom>
          <a:solidFill>
            <a:srgbClr val="F1F5F9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prove (yet)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321868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foam deficit is a Helios algorithm bug or a real material-physics effect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PROPACEOS DT-CH foam EOS+opacity tables themselves are the limiting factor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verification tests rule out Helios algorithm bugs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78408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78408"/>
            <a:ext cx="26517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Bosch-Hale DT kernel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&lt;0.4% error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 static plasma at n_DT=10²², T=3–15 keV. Helios FusionRate_DT_nHe4 vs analytic Bosch-Hale 1992 ⟨σv⟩. Pure DT AND 1.7%-C foam compositions.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493008"/>
            <a:ext cx="2651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kernel is exact within numerical tolerance.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78408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978408"/>
            <a:ext cx="26517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207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NRL bremsstrahlung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ḡ-factor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21284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Zero-D setup. Helios brems-escape vs NRL P_brem = 1.69×10⁻³²·√T·n_e·Σ Z²n_Z. Pure DT: 2–5% offset (Karzas-Latter Gaunt vs NRL ḡ ≈ 1.11). Foam: expected Z-dependent C VI contribution.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3493008"/>
            <a:ext cx="2651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Brems kernel correct; carbon arithmetic correct.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978408"/>
            <a:ext cx="26517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0760" y="978408"/>
            <a:ext cx="265176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207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laser ablation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1847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material test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21284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drive: 1×10¹⁴ W/cm², λ = 0.351 µm, 2 ns. DT slab vs DT-CH foam slab. PROPACEOS foam shows: −19% ablation pressure, −13% post-shock compression.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3493008"/>
            <a:ext cx="2651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physics — not algorithm.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178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r>
              <a:rPr lang="en-US" sz="12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foam-burn deficit vs LILAC is real PROPACEOS EOS+opacity material physics, not a Helios code bug.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Ray-tracing geometry knobs — 1D limits, two paths to V_impl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114800" cy="3611880"/>
          </a:xfrm>
          <a:prstGeom prst="rect">
            <a:avLst/>
          </a:prstGeom>
          <a:solidFill>
            <a:srgbClr val="F1F5F9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42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1D ray-trace can't reproduce 3D PDD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spherical ray-trace maintains full coupling throughout the implosion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codes (HYDRA / LILAC / xRAGE) capture fixed-pointing NIF beams missing the shrinking capsule at late times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systematically over-drives at late times by ~30–40% even at calibrated geometry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 efficiency locks near 10–11% regardless of geometry — excess drive is in the ablation physics, not pure coupling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32688"/>
            <a:ext cx="39776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4241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geometric paths to LILAC velocity — same residual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27048"/>
          <a:ext cx="3703320" cy="1798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PDD_26b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DM_01b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 half-angle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20° (forward)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3.5° (narrow)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position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−2.50 cm (inverted)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V_impl achieved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 km/s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 km/s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Adiabat (Lindl)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Imploded DT mass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09160" y="3538728"/>
            <a:ext cx="39776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360273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adiabat-and-mass residual across two very different beam geometries → ablation residual is downstream, not laser-coupling geometry.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4348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study: FL=0.012 + geometric defocus → two-plateau yield staircase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024128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24128"/>
            <a:ext cx="3383280" cy="1417320"/>
          </a:xfrm>
          <a:prstGeom prst="rect">
            <a:avLst/>
          </a:prstGeom>
          <a:solidFill>
            <a:srgbClr val="F1F5F9"/>
          </a:solidFill>
          <a:ln w="1016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115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1 · 55 MJ / 25% foam share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9788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c33_burn — recommended (closest-to-LILAC anchor)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c28: foam over-compresses to 62 g/cc but burns NO more — bootstrap-limited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2578608"/>
            <a:ext cx="3383280" cy="1417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2 · 69 MJ / 31% foam share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30175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c25_burn — recommended (max-yield anchor)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at spot 0.16→0.14, focus 0.18→0.16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c20 saturated and superseded by c25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44074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 reference: 87 MJ.  Helios design study recovers 63–79% of LILAC yield with 25–31% foam-burn share (vs &lt;15% at production FL=0.007).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60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POLAR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burn is bootstrap-temperature-limited, not compression-limited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8321040" cy="2304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bang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fab02 (over-driven)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fab007 (calibrated)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over-driven yields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 yield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 fires 2.6× more in fab02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⟨T_ion⟩ at 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hot spot 2× hotter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 ⟨T_ion⟩ at 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 follows ice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 zones crossing T &gt; 4.5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alpha-bootstrap reach into foam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Foam ρ_max at 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 g/cc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 g/cc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fab007 foam DENSER — not the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3630168"/>
            <a:ext cx="4023360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721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PROPACEOS foam EOS is NOT broken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0416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reaches peak CR ≥ ice peak CR in both runs at compression times within 30–40 ps. Foam compresses fine. Hypothesis retired.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3630168"/>
            <a:ext cx="4023360" cy="107899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3721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burn ∝ alpha bootstrap STRENGTH</a:t>
            </a:r>
            <a:endParaRPr lang="en-US" sz="1250" dirty="0"/>
          </a:p>
        </p:txBody>
      </p:sp>
      <p:sp>
        <p:nvSpPr>
          <p:cNvPr id="4" name="Text 7"/>
          <p:cNvSpPr/>
          <p:nvPr/>
        </p:nvSpPr>
        <p:spPr>
          <a:xfrm>
            <a:off x="4846320" y="40416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fires in proportion to how strongly the ice hot spot ignites. fab02's 3.5× hotter ice bootstrap fires 68% of foam zones vs fab007's 21%.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HYBRID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setup: WT_cthomas target → Thomas Vulcan reference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114800" cy="3611880"/>
          </a:xfrm>
          <a:prstGeom prst="rect">
            <a:avLst/>
          </a:prstGeom>
          <a:solidFill>
            <a:srgbClr val="F1F5F9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42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WT_cthomas target (Will Trickey's RHW)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89888"/>
          <a:ext cx="37490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ρ₀ (g/cc)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6×10⁻⁴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DT/CD foam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DT/CD foam_2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59–125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ablator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126–155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ablator_2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156–189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32644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Bisections (foam_2, CD_2) are diagnostic, not material changes. 189 total zones, 3-beam laser, 4.0 MJ delivered.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932688"/>
            <a:ext cx="397764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10424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et al. Vulcan HDD reference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89888"/>
          <a:ext cx="370332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± 13 MJ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± 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V_impl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± 20 km/s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α_min at CR=1.5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± 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± 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± 15 kJ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Imploded DT mass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± 0.15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absorbed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±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⟨ρR_cf⟩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 ± 0.08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7"/>
          <p:cNvSpPr/>
          <p:nvPr/>
        </p:nvSpPr>
        <p:spPr>
          <a:xfrm>
            <a:off x="4846320" y="40416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reproduce Thomas reference + cross-validate against Will's RHINO postprocess.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HYBRID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calibration knobs identified — ranked by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78408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78408"/>
            <a:ext cx="265176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1069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ablator EOS path resolution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854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±50% yield · NO kinematic effect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51176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RHW references Windows path C:/Users/WilliamTrickey/…/CD.prp that doesn't resolve on Mac. Helios falls back silently to ideal-gas-like EOS. Same V_impl, same shock breakout, different bounce. With fallback: 196 MJ. With Studio-local CD table: 295 MJ.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978408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978408"/>
            <a:ext cx="26517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1069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618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limiter (0.015 → 0.012)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1854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regime-changing WITHOUT picket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551176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hydro eff (21.3 → 24.3); unablated fuel collapses from 75% to 0.7%; burn FWHM 82 ps → 6 ps (flash-burn). WITH picket applied, FL changes become second-order (±4% yield).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978408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978408"/>
            <a:ext cx="26517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43800" y="1069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618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Picket Trad modification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1854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calibration lever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551176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2-shock train (foot 7.88 + ramp 11.45 ns). Triples Lindl base adiabat (0.35 → 1.08). +14% on RHINO α_min (5.62 → 6.43). Drops over-driven hydro eff (24%) to Thomas-matched 8.3%.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HYBRID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Picket-vs-FL isolation: picket dominant, FL fine-tuning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Picket effect  (FL held constant)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8321040" cy="10119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 eff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CR_max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 FWHM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baseline_tm → picket_015  (FL=0.015)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 → 245 MJ  (−17%)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 → 8.3%  (−61%)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→ 53.7  (−52%)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→ 60 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baseline_012 → picket_012  (FL=0.012)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 → 256 MJ  (−16%)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 → 8.3%  (−66%)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→ 53.3  (−52%)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→ 65 ps  (regime escape)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2395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effect  (picket held constant)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61488"/>
          <a:ext cx="8321040" cy="11460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 eff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CR_max 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 FWHM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baseline_tm → baseline_012  (no picket)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 → 303 MJ  (+3%)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 → 24.3%  (+14%)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→ 110  (−3%)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→ 6 ps  (regime change!)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picket_015 → picket_012  (picket 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 → 256 MJ  (+4%)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 → 8.3%  (0%)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 → 53.3  (−1%)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→ 65 ps  (+8%)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3858768"/>
            <a:ext cx="83210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4360" y="39319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picket first (primary lever; the 2-shock train is identical foot/ramp at 7.88/11.44–45 ns regardless of FL), then fine-tune FL within a small ±0.003 window. WITHOUT picket, FL changes are regime-determining (flash-burn vs assembly).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HYBRID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anchor: WT_cthomas_baseline_picket_012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78408"/>
            <a:ext cx="1977390" cy="1417320"/>
          </a:xfrm>
          <a:prstGeom prst="rect">
            <a:avLst/>
          </a:prstGeom>
          <a:solidFill>
            <a:srgbClr val="F1F5F9"/>
          </a:solidFill>
          <a:ln w="1016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42416"/>
            <a:ext cx="1977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44168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256.4 MJ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856232"/>
            <a:ext cx="1977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256 MJ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93976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26030" y="978408"/>
            <a:ext cx="1977390" cy="1417320"/>
          </a:xfrm>
          <a:prstGeom prst="rect">
            <a:avLst/>
          </a:prstGeom>
          <a:solidFill>
            <a:srgbClr val="F1F5F9"/>
          </a:solidFill>
          <a:ln w="1016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26030" y="1042416"/>
            <a:ext cx="1977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 efficiency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26030" y="1344168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26030" y="1856232"/>
            <a:ext cx="1977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8.0%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26030" y="2093976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0580" y="978408"/>
            <a:ext cx="1977390" cy="1417320"/>
          </a:xfrm>
          <a:prstGeom prst="rect">
            <a:avLst/>
          </a:prstGeom>
          <a:solidFill>
            <a:srgbClr val="F1F5F9"/>
          </a:solidFill>
          <a:ln w="1016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0580" y="1042416"/>
            <a:ext cx="1977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V_impl RHINO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0580" y="1344168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 km/s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40580" y="1856232"/>
            <a:ext cx="1977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410 km/s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40580" y="2093976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55130" y="978408"/>
            <a:ext cx="1977390" cy="1417320"/>
          </a:xfrm>
          <a:prstGeom prst="rect">
            <a:avLst/>
          </a:prstGeom>
          <a:solidFill>
            <a:srgbClr val="F1F5F9"/>
          </a:solidFill>
          <a:ln w="1016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55130" y="1042416"/>
            <a:ext cx="1977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α_min RHINO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55130" y="1344168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55130" y="1856232"/>
            <a:ext cx="1977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6.00 ± 0.50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55130" y="2093976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2578608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 — close to Thomas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62656"/>
          <a:ext cx="3840480" cy="1304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 vs 300 kJ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⟨ρR_cf⟩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vs 1.60 g/cm²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Assembled mass RHINO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 vs 3.0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 / ramp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 / 11.45 ns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2-shock 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709160" y="2578608"/>
            <a:ext cx="397764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46320" y="2642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1D residuals  (same family as PDD fab007)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962656"/>
          <a:ext cx="3749040" cy="13045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absorbed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vs 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CR_max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 vs ~20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⟨T_hs⟩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vs 47 keV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Imploded DT (core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vs 3.0 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aperture artifact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HYBRID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cross-validation — same .exo, both pipelines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postprocess of WT_cthomas_baseline.exo by Helios pipeline and Will's RHINO native: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7406640" cy="24871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RHINO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published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(MJ)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± 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absorbed (MJ)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V_impl RHINO (km/s)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±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Breakout time (ns)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 CR=1.5 (ns)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inner at CR=1.5 (cm)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α_min CR=1.5  (partially_ionized)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± 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950208"/>
            <a:ext cx="832104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400507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agreement:  </a:t>
            </a:r>
            <a:r>
              <a:rPr lang="en-US" sz="120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yield, V_impl, breakout, t_cr15, shell geometry — both postprocessors read the .exo identically. Single disagreement (α_min) traced to ELECTRON-DENSITY CONVENTION (next slide).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HYBRID DIRECT DRIVE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Adiabat convention story — RESOLVED to 0.1%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8321040" cy="200558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α_min on baseline.exo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pipeline  ·  partially_ionized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electron_density (per zone, EXODUS)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pipeline  ·  fully_ionized_dt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 = ρ / m_avg_ion  (assumes Z̄=1)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RHINO native → 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Will's RHINO native  (default = fully_ionized_dt)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 = ρ / m_avg_ion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apples-to-apples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published (HYDRA)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 open question below)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± 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3127248"/>
            <a:ext cx="402336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5112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pure DT zones (Z̄ = 1 at full ionization) the two conventions are identical. For multi-material DT/CD foam at partial ionization they diverge by the local Z̄ factor. Both conventions now available in pipeline:  data.adiabat_min_rhino  +  data.adiabat_min_rhino_fully_ionized.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3127248"/>
            <a:ext cx="4023360" cy="1508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Cliff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35112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n_e convention does HYDRA use for its reported α = 6.0?  Most modern multi-physics codes track ionization per zone (= partially_ionized = our default = 5.62 on baseline, 6.43 on picket_012 → matches Thomas +7%).  Will to confirm.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TOOLING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improvements (June 2026)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7840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78408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conventions ported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441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Clean-room implementations of implosion_velocity (validated to ±2%) and min_shell_adiabat at CR=1.5 (validated to 0.1% in matching convention) from the RHINO source.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7840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78408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424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RHINO diagnostics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441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max_shell_velocity_time, stagnation_time (RHINO convention), assembled_mass, burn_fraction, ablation_pressure_at_cr_3p5, shell_thickness + cr_inner histories, time_at_cr(cr) utility.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093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Convention-aware comparison framework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compare_with_published auto-routes each adiabat row to its convention-matching published JSON key (adiabat / adiabat_rhino_min_cr15 / adiabat_rhino_formula_*).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02996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029968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093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design comparison plot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3957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examples/hdd_design_comparison.py — 4-row + Thomas + RHINO reference figure for design-anchor selection.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08152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081528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1455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1.5.1 installed locally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4472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~/Codes/RHINO on MacBook for direct same-.exo cross-checks. Used to validate the convention-resolution story.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8152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081528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1455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EOS-loader fix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472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ion_density and mean_charge now loaded from EXODUS (needed for fully_ionized_dt adiabat). Both were standard EXODUS variables we'd been silently ignoring.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WHERE WE STAND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summary — three production anchors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338308"/>
              </p:ext>
            </p:extLst>
          </p:nvPr>
        </p:nvGraphicFramePr>
        <p:xfrm>
          <a:off x="91440" y="706414"/>
          <a:ext cx="9052560" cy="34747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Knobs /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Olson_PDD_20_fab007  (PDD 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 37° / spot 0.18 cm / focus 0.22 cm / FL_prism 0.007 / foot 25 TW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LILAC kinematics + thermodynamic state to ±7%; yield 30% of LILAC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calibration closed; foam burn deficit is real PROPACEOS physics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c33_burn / c25_burn  (PDD design study)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FL_prism = 0.012 + geometric defocus (cone narrowing + spot/focus tightening)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c33: 55 MJ / 25% foam.  c25: 69 MJ / 31% foam.  vs LILAC 87 MJ / ~near parity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63–79% of LILAC yield; foam burn productivity restored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WT_cthomas_baseline_picket_012  (HDD 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 = 0.012 + EOS-fixed CD ablator + picket Trad modification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reference ±7% on yield, hydro eff, V_impl, α_min RHINO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HDD anchor; structural metrics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053276"/>
            <a:ext cx="83210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410356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1D residuals across both PDD and HDD: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⟨T_hs⟩ overshoot, fraction-absorbed deficit, CR_max over-compression. Same family on both targets — structural 1D-vs-3D physics gap, not calibration deficits closeable inside Helios 1D. (Assembled shell mass — the RHINO definition — matches Thomas to ~20% on HDD; the −98% “imploded mass” headline is a pipeline-aperture artifact, not a real deficit.)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LET'S TALK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7840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88136"/>
            <a:ext cx="914400" cy="2560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88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→ Cliff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10698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 convention for Thomas 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HYDRA reports α with per-zone actual electron density (partially_ionized) or Z̄=1 assumption (fully_ionized_dt). Closes the convention story end-to-end.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7840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88136"/>
            <a:ext cx="91440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88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0" y="10698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stagnation_time definition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4356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reports shell-velocity-min; our pipeline reports HS-radius-min (1.3 ns later). Decide whether to adopt RHINO's convention as the production default.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02996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139696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Re-extract historical anchors with RHINO-formula adiabat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4871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fab007, fab02, c33_burn, c25_burn — generate parallel α values in both conventions for any future Xcimer cross-tool comparison.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02996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139696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0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calibration to other Vulcan-class targets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24871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picket-first recipe to additional Will-provided HDD geometries if available. Document calibration transfer pattern.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08152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191256"/>
            <a:ext cx="9144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191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pint-style units in high-risk code paths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35387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for now (full discussion in earlier message). Pragmatic partial adoption recommended for adiabat / Fermi-pressure / burn-fraction calculations.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081528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191256"/>
            <a:ext cx="914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191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Production-anchor designation for Xcimer use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picket_012 + c33/c25 as the production calibration anchors for Xcimer reference. HDD report PDF/DOCX ready in docs/.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Mehlhorn → Trickey · Helios postprocess review · June 3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3482</Words>
  <Application>Microsoft Macintosh PowerPoint</Application>
  <PresentationFormat>On-screen Show (16:9)</PresentationFormat>
  <Paragraphs>524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 Postprocess Status: PDD Wetted-Foam + HDD WT_cthomas Calibration</dc:title>
  <dc:subject>PptxGenJS Presentation</dc:subject>
  <dc:creator>Prof. T. Mehlhorn</dc:creator>
  <cp:lastModifiedBy>Tom Mehlhorn</cp:lastModifiedBy>
  <cp:revision>2</cp:revision>
  <dcterms:created xsi:type="dcterms:W3CDTF">2026-06-04T05:12:29Z</dcterms:created>
  <dcterms:modified xsi:type="dcterms:W3CDTF">2026-06-04T06:02:31Z</dcterms:modified>
</cp:coreProperties>
</file>